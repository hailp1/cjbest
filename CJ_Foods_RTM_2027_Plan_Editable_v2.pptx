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9326880" cy="502920"/>
          </a:xfrm>
          <a:prstGeom prst="rect">
            <a:avLst/>
          </a:prstGeom>
          <a:noFill/>
        </p:spPr>
        <p:txBody>
          <a:bodyPr wrap="square" lIns="0" tIns="0" rIns="0" bIns="0">
            <a:spAutoFit/>
          </a:bodyPr>
          <a:lstStyle/>
          <a:p>
            <a:pPr>
              <a:defRPr sz="2000" b="1">
                <a:solidFill>
                  <a:srgbClr val="111827"/>
                </a:solidFill>
              </a:defRPr>
            </a:pPr>
            <a:r>
              <a:t>Route-to-Market Network 2026: Nationwide Baseline &amp; Strategic Bottlenecks</a:t>
            </a:r>
          </a:p>
        </p:txBody>
      </p:sp>
      <p:sp>
        <p:nvSpPr>
          <p:cNvPr id="4" name="Rounded Rectangle 3"/>
          <p:cNvSpPr/>
          <p:nvPr/>
        </p:nvSpPr>
        <p:spPr>
          <a:xfrm>
            <a:off x="9601200" y="256032"/>
            <a:ext cx="2194560" cy="292608"/>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991B1B"/>
                </a:solidFill>
              </a:defRPr>
            </a:pPr>
            <a:r>
              <a:t>BASELINE DIAGNOSTIC 2026</a:t>
            </a:r>
          </a:p>
        </p:txBody>
      </p:sp>
      <p:sp>
        <p:nvSpPr>
          <p:cNvPr id="5" name="TextBox 4"/>
          <p:cNvSpPr txBox="1"/>
          <p:nvPr/>
        </p:nvSpPr>
        <p:spPr>
          <a:xfrm>
            <a:off x="411480" y="749808"/>
            <a:ext cx="11338560" cy="228600"/>
          </a:xfrm>
          <a:prstGeom prst="rect">
            <a:avLst/>
          </a:prstGeom>
          <a:noFill/>
        </p:spPr>
        <p:txBody>
          <a:bodyPr wrap="none" lIns="0" tIns="0" rIns="0" bIns="0">
            <a:spAutoFit/>
          </a:bodyPr>
          <a:lstStyle/>
          <a:p>
            <a:pPr>
              <a:defRPr sz="919" b="1">
                <a:solidFill>
                  <a:srgbClr val="64748B"/>
                </a:solidFill>
              </a:defRPr>
            </a:pPr>
            <a:r>
              <a:t>ACTIVE COMMERCIAL NETWORK • 215 ACTIVE DISTRIBUTORS • 59,366 RETAIL OUTLETS • CRITICAL DISTANCE TRAPS</a:t>
            </a:r>
          </a:p>
        </p:txBody>
      </p:sp>
      <p:pic>
        <p:nvPicPr>
          <p:cNvPr id="6" name="Picture 5" descr="vietnam_rtm_spatial_map.png"/>
          <p:cNvPicPr>
            <a:picLocks noChangeAspect="1"/>
          </p:cNvPicPr>
          <p:nvPr/>
        </p:nvPicPr>
        <p:blipFill>
          <a:blip r:embed="rId2"/>
          <a:stretch>
            <a:fillRect/>
          </a:stretch>
        </p:blipFill>
        <p:spPr>
          <a:xfrm>
            <a:off x="411480" y="1051560"/>
            <a:ext cx="3931920" cy="5349240"/>
          </a:xfrm>
          <a:prstGeom prst="rect">
            <a:avLst/>
          </a:prstGeom>
        </p:spPr>
      </p:pic>
      <p:sp>
        <p:nvSpPr>
          <p:cNvPr id="7" name="Rounded Rectangle 6"/>
          <p:cNvSpPr/>
          <p:nvPr/>
        </p:nvSpPr>
        <p:spPr>
          <a:xfrm>
            <a:off x="4480560" y="1051560"/>
            <a:ext cx="16916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124712"/>
            <a:ext cx="1472184" cy="905256"/>
          </a:xfrm>
          <a:prstGeom prst="rect">
            <a:avLst/>
          </a:prstGeom>
          <a:noFill/>
        </p:spPr>
        <p:txBody>
          <a:bodyPr wrap="square" lIns="0" tIns="0" rIns="0" bIns="0">
            <a:spAutoFit/>
          </a:bodyPr>
          <a:lstStyle/>
          <a:p>
            <a:pPr>
              <a:spcAft>
                <a:spcPts val="200"/>
              </a:spcAft>
              <a:defRPr sz="1700" b="1">
                <a:solidFill>
                  <a:srgbClr val="111827"/>
                </a:solidFill>
              </a:defRPr>
            </a:pPr>
            <a:r>
              <a:t>215 Distributors</a:t>
            </a:r>
          </a:p>
          <a:p>
            <a:pPr>
              <a:defRPr sz="900" b="1">
                <a:solidFill>
                  <a:srgbClr val="111827"/>
                </a:solidFill>
              </a:defRPr>
            </a:pPr>
            <a:r>
              <a:t>Active Distributors</a:t>
            </a:r>
          </a:p>
          <a:p>
            <a:pPr>
              <a:defRPr sz="800">
                <a:solidFill>
                  <a:srgbClr val="64748B"/>
                </a:solidFill>
              </a:defRPr>
            </a:pPr>
            <a:r>
              <a:t>6 Economic Regions</a:t>
            </a:r>
          </a:p>
        </p:txBody>
      </p:sp>
      <p:sp>
        <p:nvSpPr>
          <p:cNvPr id="9" name="Rounded Rectangle 8"/>
          <p:cNvSpPr/>
          <p:nvPr/>
        </p:nvSpPr>
        <p:spPr>
          <a:xfrm>
            <a:off x="6263640" y="1051560"/>
            <a:ext cx="16916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124712"/>
            <a:ext cx="1472184" cy="905256"/>
          </a:xfrm>
          <a:prstGeom prst="rect">
            <a:avLst/>
          </a:prstGeom>
          <a:noFill/>
        </p:spPr>
        <p:txBody>
          <a:bodyPr wrap="square" lIns="0" tIns="0" rIns="0" bIns="0">
            <a:spAutoFit/>
          </a:bodyPr>
          <a:lstStyle/>
          <a:p>
            <a:pPr>
              <a:spcAft>
                <a:spcPts val="200"/>
              </a:spcAft>
              <a:defRPr sz="1700" b="1">
                <a:solidFill>
                  <a:srgbClr val="DC2626"/>
                </a:solidFill>
              </a:defRPr>
            </a:pPr>
            <a:r>
              <a:t>2,452</a:t>
            </a:r>
          </a:p>
          <a:p>
            <a:pPr>
              <a:defRPr sz="900" b="1">
                <a:solidFill>
                  <a:srgbClr val="111827"/>
                </a:solidFill>
              </a:defRPr>
            </a:pPr>
            <a:r>
              <a:t>Drops &gt;45km</a:t>
            </a:r>
          </a:p>
          <a:p>
            <a:pPr>
              <a:defRPr sz="800">
                <a:solidFill>
                  <a:srgbClr val="64748B"/>
                </a:solidFill>
              </a:defRPr>
            </a:pPr>
            <a:r>
              <a:t>Hai Phong &amp; Can Tho</a:t>
            </a:r>
          </a:p>
        </p:txBody>
      </p:sp>
      <p:sp>
        <p:nvSpPr>
          <p:cNvPr id="11" name="Rounded Rectangle 10"/>
          <p:cNvSpPr/>
          <p:nvPr/>
        </p:nvSpPr>
        <p:spPr>
          <a:xfrm>
            <a:off x="8046720" y="1051560"/>
            <a:ext cx="16916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124712"/>
            <a:ext cx="1472184" cy="905256"/>
          </a:xfrm>
          <a:prstGeom prst="rect">
            <a:avLst/>
          </a:prstGeom>
          <a:noFill/>
        </p:spPr>
        <p:txBody>
          <a:bodyPr wrap="square" lIns="0" tIns="0" rIns="0" bIns="0">
            <a:spAutoFit/>
          </a:bodyPr>
          <a:lstStyle/>
          <a:p>
            <a:pPr>
              <a:spcAft>
                <a:spcPts val="200"/>
              </a:spcAft>
              <a:defRPr sz="1700" b="1">
                <a:solidFill>
                  <a:srgbClr val="D97706"/>
                </a:solidFill>
              </a:defRPr>
            </a:pPr>
            <a:r>
              <a:t>28 Distributors</a:t>
            </a:r>
          </a:p>
          <a:p>
            <a:pPr>
              <a:defRPr sz="900" b="1">
                <a:solidFill>
                  <a:srgbClr val="111827"/>
                </a:solidFill>
              </a:defRPr>
            </a:pPr>
            <a:r>
              <a:t>Unstaffed Distributors</a:t>
            </a:r>
          </a:p>
          <a:p>
            <a:pPr>
              <a:defRPr sz="800">
                <a:solidFill>
                  <a:srgbClr val="64748B"/>
                </a:solidFill>
              </a:defRPr>
            </a:pPr>
            <a:r>
              <a:t>Lack Sales Managers</a:t>
            </a:r>
          </a:p>
        </p:txBody>
      </p:sp>
      <p:sp>
        <p:nvSpPr>
          <p:cNvPr id="13" name="Rounded Rectangle 12"/>
          <p:cNvSpPr/>
          <p:nvPr/>
        </p:nvSpPr>
        <p:spPr>
          <a:xfrm>
            <a:off x="9829800" y="1051560"/>
            <a:ext cx="1947672"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39528" y="1124712"/>
            <a:ext cx="1728216" cy="905256"/>
          </a:xfrm>
          <a:prstGeom prst="rect">
            <a:avLst/>
          </a:prstGeom>
          <a:noFill/>
        </p:spPr>
        <p:txBody>
          <a:bodyPr wrap="square" lIns="0" tIns="0" rIns="0" bIns="0">
            <a:spAutoFit/>
          </a:bodyPr>
          <a:lstStyle/>
          <a:p>
            <a:pPr>
              <a:spcAft>
                <a:spcPts val="200"/>
              </a:spcAft>
              <a:defRPr sz="1700" b="1">
                <a:solidFill>
                  <a:srgbClr val="0284C7"/>
                </a:solidFill>
              </a:defRPr>
            </a:pPr>
            <a:r>
              <a:t>14 C1s</a:t>
            </a:r>
          </a:p>
          <a:p>
            <a:pPr>
              <a:defRPr sz="900" b="1">
                <a:solidFill>
                  <a:srgbClr val="111827"/>
                </a:solidFill>
              </a:defRPr>
            </a:pPr>
            <a:r>
              <a:t>Proposed C1s</a:t>
            </a:r>
          </a:p>
          <a:p>
            <a:pPr>
              <a:defRPr sz="800">
                <a:solidFill>
                  <a:srgbClr val="64748B"/>
                </a:solidFill>
              </a:defRPr>
            </a:pPr>
            <a:r>
              <a:t>White Space Reach</a:t>
            </a:r>
          </a:p>
        </p:txBody>
      </p:sp>
      <p:graphicFrame>
        <p:nvGraphicFramePr>
          <p:cNvPr id="15" name="Table 14"/>
          <p:cNvGraphicFramePr>
            <a:graphicFrameLocks noGrp="1"/>
          </p:cNvGraphicFramePr>
          <p:nvPr/>
        </p:nvGraphicFramePr>
        <p:xfrm>
          <a:off x="4480560" y="2240280"/>
          <a:ext cx="7296912" cy="2926080"/>
        </p:xfrm>
        <a:graphic>
          <a:graphicData uri="http://schemas.openxmlformats.org/drawingml/2006/table">
            <a:tbl>
              <a:tblPr firstRow="1" bandRow="1">
                <a:tableStyleId>{5C22544A-7EE6-4342-B048-85BDC9FD1C3A}</a:tableStyleId>
              </a:tblPr>
              <a:tblGrid>
                <a:gridCol w="1234440"/>
                <a:gridCol w="868680"/>
                <a:gridCol w="1051560"/>
                <a:gridCol w="1051560"/>
                <a:gridCol w="868680"/>
                <a:gridCol w="2221992"/>
              </a:tblGrid>
              <a:tr h="418011">
                <a:tc>
                  <a:txBody>
                    <a:bodyPr/>
                    <a:lstStyle/>
                    <a:p>
                      <a:pPr>
                        <a:defRPr sz="850" b="1">
                          <a:solidFill>
                            <a:srgbClr val="111827"/>
                          </a:solidFill>
                        </a:defRPr>
                      </a:pPr>
                      <a:r>
                        <a:t>Sales Region</a:t>
                      </a:r>
                    </a:p>
                  </a:txBody>
                  <a:tcPr>
                    <a:solidFill>
                      <a:srgbClr val="F1F5F9"/>
                    </a:solidFill>
                  </a:tcPr>
                </a:tc>
                <a:tc>
                  <a:txBody>
                    <a:bodyPr/>
                    <a:lstStyle/>
                    <a:p>
                      <a:pPr>
                        <a:defRPr sz="850" b="1">
                          <a:solidFill>
                            <a:srgbClr val="111827"/>
                          </a:solidFill>
                        </a:defRPr>
                      </a:pPr>
                      <a:r>
                        <a:t>Active Distributors</a:t>
                      </a:r>
                    </a:p>
                  </a:txBody>
                  <a:tcPr>
                    <a:solidFill>
                      <a:srgbClr val="F1F5F9"/>
                    </a:solidFill>
                  </a:tcPr>
                </a:tc>
                <a:tc>
                  <a:txBody>
                    <a:bodyPr/>
                    <a:lstStyle/>
                    <a:p>
                      <a:pPr>
                        <a:defRPr sz="850" b="1">
                          <a:solidFill>
                            <a:srgbClr val="111827"/>
                          </a:solidFill>
                        </a:defRPr>
                      </a:pPr>
                      <a:r>
                        <a:t>Avg Drop Dist.</a:t>
                      </a:r>
                    </a:p>
                  </a:txBody>
                  <a:tcPr>
                    <a:solidFill>
                      <a:srgbClr val="F1F5F9"/>
                    </a:solidFill>
                  </a:tcPr>
                </a:tc>
                <a:tc>
                  <a:txBody>
                    <a:bodyPr/>
                    <a:lstStyle/>
                    <a:p>
                      <a:pPr>
                        <a:defRPr sz="850" b="1">
                          <a:solidFill>
                            <a:srgbClr val="111827"/>
                          </a:solidFill>
                        </a:defRPr>
                      </a:pPr>
                      <a:r>
                        <a:t>Drops &gt;45km</a:t>
                      </a:r>
                    </a:p>
                  </a:txBody>
                  <a:tcPr>
                    <a:solidFill>
                      <a:srgbClr val="F1F5F9"/>
                    </a:solidFill>
                  </a:tcPr>
                </a:tc>
                <a:tc>
                  <a:txBody>
                    <a:bodyPr/>
                    <a:lstStyle/>
                    <a:p>
                      <a:pPr>
                        <a:defRPr sz="850" b="1">
                          <a:solidFill>
                            <a:srgbClr val="111827"/>
                          </a:solidFill>
                        </a:defRPr>
                      </a:pPr>
                      <a:r>
                        <a:t>Cold Mix</a:t>
                      </a:r>
                    </a:p>
                  </a:txBody>
                  <a:tcPr>
                    <a:solidFill>
                      <a:srgbClr val="F1F5F9"/>
                    </a:solidFill>
                  </a:tcPr>
                </a:tc>
                <a:tc>
                  <a:txBody>
                    <a:bodyPr/>
                    <a:lstStyle/>
                    <a:p>
                      <a:pPr>
                        <a:defRPr sz="850" b="1">
                          <a:solidFill>
                            <a:srgbClr val="111827"/>
                          </a:solidFill>
                        </a:defRPr>
                      </a:pPr>
                      <a:r>
                        <a:t>Core Operational Diagnosis</a:t>
                      </a:r>
                    </a:p>
                  </a:txBody>
                  <a:tcPr>
                    <a:solidFill>
                      <a:srgbClr val="F1F5F9"/>
                    </a:solidFill>
                  </a:tcPr>
                </a:tc>
              </a:tr>
              <a:tr h="418011">
                <a:tc>
                  <a:txBody>
                    <a:bodyPr/>
                    <a:lstStyle/>
                    <a:p>
                      <a:pPr>
                        <a:defRPr sz="800">
                          <a:solidFill>
                            <a:srgbClr val="111827"/>
                          </a:solidFill>
                        </a:defRPr>
                      </a:pPr>
                      <a:r>
                        <a:t>1. Hai Phong &amp; NE</a:t>
                      </a:r>
                    </a:p>
                  </a:txBody>
                  <a:tcPr>
                    <a:solidFill>
                      <a:srgbClr val="FEF2F2"/>
                    </a:solidFill>
                  </a:tcPr>
                </a:tc>
                <a:tc>
                  <a:txBody>
                    <a:bodyPr/>
                    <a:lstStyle/>
                    <a:p>
                      <a:pPr>
                        <a:defRPr sz="800">
                          <a:solidFill>
                            <a:srgbClr val="111827"/>
                          </a:solidFill>
                        </a:defRPr>
                      </a:pPr>
                      <a:r>
                        <a:t>38 Distributors</a:t>
                      </a:r>
                    </a:p>
                  </a:txBody>
                  <a:tcPr>
                    <a:solidFill>
                      <a:srgbClr val="FEF2F2"/>
                    </a:solidFill>
                  </a:tcPr>
                </a:tc>
                <a:tc>
                  <a:txBody>
                    <a:bodyPr/>
                    <a:lstStyle/>
                    <a:p>
                      <a:pPr>
                        <a:defRPr sz="800" b="1">
                          <a:solidFill>
                            <a:srgbClr val="DC2626"/>
                          </a:solidFill>
                        </a:defRPr>
                      </a:pPr>
                      <a:r>
                        <a:t>21.3 km</a:t>
                      </a:r>
                    </a:p>
                  </a:txBody>
                  <a:tcPr>
                    <a:solidFill>
                      <a:srgbClr val="FEF2F2"/>
                    </a:solidFill>
                  </a:tcPr>
                </a:tc>
                <a:tc>
                  <a:txBody>
                    <a:bodyPr/>
                    <a:lstStyle/>
                    <a:p>
                      <a:pPr>
                        <a:defRPr sz="800" b="1">
                          <a:solidFill>
                            <a:srgbClr val="DC2626"/>
                          </a:solidFill>
                        </a:defRPr>
                      </a:pPr>
                      <a:r>
                        <a:t>1,118 drops</a:t>
                      </a:r>
                    </a:p>
                  </a:txBody>
                  <a:tcPr>
                    <a:solidFill>
                      <a:srgbClr val="FEF2F2"/>
                    </a:solidFill>
                  </a:tcPr>
                </a:tc>
                <a:tc>
                  <a:txBody>
                    <a:bodyPr/>
                    <a:lstStyle/>
                    <a:p>
                      <a:pPr>
                        <a:defRPr sz="800">
                          <a:solidFill>
                            <a:srgbClr val="111827"/>
                          </a:solidFill>
                        </a:defRPr>
                      </a:pPr>
                      <a:r>
                        <a:t>24.3%</a:t>
                      </a:r>
                    </a:p>
                  </a:txBody>
                  <a:tcPr>
                    <a:solidFill>
                      <a:srgbClr val="FEF2F2"/>
                    </a:solidFill>
                  </a:tcPr>
                </a:tc>
                <a:tc>
                  <a:txBody>
                    <a:bodyPr/>
                    <a:lstStyle/>
                    <a:p>
                      <a:pPr>
                        <a:defRPr sz="800">
                          <a:solidFill>
                            <a:srgbClr val="111827"/>
                          </a:solidFill>
                        </a:defRPr>
                      </a:pPr>
                      <a:r>
                        <a:t>Severe logistics friction; unserved white space in Luc Ngan &amp; Thai Binh</a:t>
                      </a:r>
                    </a:p>
                  </a:txBody>
                  <a:tcPr>
                    <a:solidFill>
                      <a:srgbClr val="FEF2F2"/>
                    </a:solidFill>
                  </a:tcPr>
                </a:tc>
              </a:tr>
              <a:tr h="418011">
                <a:tc>
                  <a:txBody>
                    <a:bodyPr/>
                    <a:lstStyle/>
                    <a:p>
                      <a:pPr>
                        <a:defRPr sz="800">
                          <a:solidFill>
                            <a:srgbClr val="111827"/>
                          </a:solidFill>
                        </a:defRPr>
                      </a:pPr>
                      <a:r>
                        <a:t>2. Can Tho &amp; Mekong</a:t>
                      </a:r>
                    </a:p>
                  </a:txBody>
                  <a:tcPr>
                    <a:solidFill>
                      <a:srgbClr val="FEF2F2"/>
                    </a:solidFill>
                  </a:tcPr>
                </a:tc>
                <a:tc>
                  <a:txBody>
                    <a:bodyPr/>
                    <a:lstStyle/>
                    <a:p>
                      <a:pPr>
                        <a:defRPr sz="800">
                          <a:solidFill>
                            <a:srgbClr val="111827"/>
                          </a:solidFill>
                        </a:defRPr>
                      </a:pPr>
                      <a:r>
                        <a:t>26 Distributors</a:t>
                      </a:r>
                    </a:p>
                  </a:txBody>
                  <a:tcPr>
                    <a:solidFill>
                      <a:srgbClr val="FEF2F2"/>
                    </a:solidFill>
                  </a:tcPr>
                </a:tc>
                <a:tc>
                  <a:txBody>
                    <a:bodyPr/>
                    <a:lstStyle/>
                    <a:p>
                      <a:pPr>
                        <a:defRPr sz="800" b="1">
                          <a:solidFill>
                            <a:srgbClr val="DC2626"/>
                          </a:solidFill>
                        </a:defRPr>
                      </a:pPr>
                      <a:r>
                        <a:t>19.4 km</a:t>
                      </a:r>
                    </a:p>
                  </a:txBody>
                  <a:tcPr>
                    <a:solidFill>
                      <a:srgbClr val="FEF2F2"/>
                    </a:solidFill>
                  </a:tcPr>
                </a:tc>
                <a:tc>
                  <a:txBody>
                    <a:bodyPr/>
                    <a:lstStyle/>
                    <a:p>
                      <a:pPr>
                        <a:defRPr sz="800" b="1">
                          <a:solidFill>
                            <a:srgbClr val="DC2626"/>
                          </a:solidFill>
                        </a:defRPr>
                      </a:pPr>
                      <a:r>
                        <a:t>831 drops</a:t>
                      </a:r>
                    </a:p>
                  </a:txBody>
                  <a:tcPr>
                    <a:solidFill>
                      <a:srgbClr val="FEF2F2"/>
                    </a:solidFill>
                  </a:tcPr>
                </a:tc>
                <a:tc>
                  <a:txBody>
                    <a:bodyPr/>
                    <a:lstStyle/>
                    <a:p>
                      <a:pPr>
                        <a:defRPr sz="800">
                          <a:solidFill>
                            <a:srgbClr val="111827"/>
                          </a:solidFill>
                        </a:defRPr>
                      </a:pPr>
                      <a:r>
                        <a:t>18.9%</a:t>
                      </a:r>
                    </a:p>
                  </a:txBody>
                  <a:tcPr>
                    <a:solidFill>
                      <a:srgbClr val="FEF2F2"/>
                    </a:solidFill>
                  </a:tcPr>
                </a:tc>
                <a:tc>
                  <a:txBody>
                    <a:bodyPr/>
                    <a:lstStyle/>
                    <a:p>
                      <a:pPr>
                        <a:defRPr sz="800">
                          <a:solidFill>
                            <a:srgbClr val="111827"/>
                          </a:solidFill>
                        </a:defRPr>
                      </a:pPr>
                      <a:r>
                        <a:t>Canal routing friction; island white spaces in Ba Tri &amp; Ca Mau; 8 unstaffed distributors</a:t>
                      </a:r>
                    </a:p>
                  </a:txBody>
                  <a:tcPr>
                    <a:solidFill>
                      <a:srgbClr val="FEF2F2"/>
                    </a:solidFill>
                  </a:tcPr>
                </a:tc>
              </a:tr>
              <a:tr h="418011">
                <a:tc>
                  <a:txBody>
                    <a:bodyPr/>
                    <a:lstStyle/>
                    <a:p>
                      <a:pPr>
                        <a:defRPr sz="800">
                          <a:solidFill>
                            <a:srgbClr val="111827"/>
                          </a:solidFill>
                        </a:defRPr>
                      </a:pPr>
                      <a:r>
                        <a:t>3. Hanoi &amp; NW</a:t>
                      </a:r>
                    </a:p>
                  </a:txBody>
                  <a:tcPr>
                    <a:solidFill>
                      <a:srgbClr val="FFFFFF"/>
                    </a:solidFill>
                  </a:tcPr>
                </a:tc>
                <a:tc>
                  <a:txBody>
                    <a:bodyPr/>
                    <a:lstStyle/>
                    <a:p>
                      <a:pPr>
                        <a:defRPr sz="800">
                          <a:solidFill>
                            <a:srgbClr val="111827"/>
                          </a:solidFill>
                        </a:defRPr>
                      </a:pPr>
                      <a:r>
                        <a:t>43 Distributors</a:t>
                      </a:r>
                    </a:p>
                  </a:txBody>
                  <a:tcPr>
                    <a:solidFill>
                      <a:srgbClr val="FFFFFF"/>
                    </a:solidFill>
                  </a:tcPr>
                </a:tc>
                <a:tc>
                  <a:txBody>
                    <a:bodyPr/>
                    <a:lstStyle/>
                    <a:p>
                      <a:pPr>
                        <a:defRPr sz="800">
                          <a:solidFill>
                            <a:srgbClr val="111827"/>
                          </a:solidFill>
                        </a:defRPr>
                      </a:pPr>
                      <a:r>
                        <a:t>12.6 km</a:t>
                      </a:r>
                    </a:p>
                  </a:txBody>
                  <a:tcPr>
                    <a:solidFill>
                      <a:srgbClr val="FFFFFF"/>
                    </a:solidFill>
                  </a:tcPr>
                </a:tc>
                <a:tc>
                  <a:txBody>
                    <a:bodyPr/>
                    <a:lstStyle/>
                    <a:p>
                      <a:pPr>
                        <a:defRPr sz="800">
                          <a:solidFill>
                            <a:srgbClr val="111827"/>
                          </a:solidFill>
                        </a:defRPr>
                      </a:pPr>
                      <a:r>
                        <a:t>389 drops</a:t>
                      </a:r>
                    </a:p>
                  </a:txBody>
                  <a:tcPr>
                    <a:solidFill>
                      <a:srgbClr val="FFFFFF"/>
                    </a:solidFill>
                  </a:tcPr>
                </a:tc>
                <a:tc>
                  <a:txBody>
                    <a:bodyPr/>
                    <a:lstStyle/>
                    <a:p>
                      <a:pPr>
                        <a:defRPr sz="800">
                          <a:solidFill>
                            <a:srgbClr val="111827"/>
                          </a:solidFill>
                        </a:defRPr>
                      </a:pPr>
                      <a:r>
                        <a:t>36.1%</a:t>
                      </a:r>
                    </a:p>
                  </a:txBody>
                  <a:tcPr>
                    <a:solidFill>
                      <a:srgbClr val="FFFFFF"/>
                    </a:solidFill>
                  </a:tcPr>
                </a:tc>
                <a:tc>
                  <a:txBody>
                    <a:bodyPr/>
                    <a:lstStyle/>
                    <a:p>
                      <a:pPr>
                        <a:defRPr sz="800">
                          <a:solidFill>
                            <a:srgbClr val="111827"/>
                          </a:solidFill>
                        </a:defRPr>
                      </a:pPr>
                      <a:r>
                        <a:t>Highest cold assortment mix; border white spaces in Lao Cai &amp; Phu Tho</a:t>
                      </a:r>
                    </a:p>
                  </a:txBody>
                  <a:tcPr>
                    <a:solidFill>
                      <a:srgbClr val="FFFFFF"/>
                    </a:solidFill>
                  </a:tcPr>
                </a:tc>
              </a:tr>
              <a:tr h="418011">
                <a:tc>
                  <a:txBody>
                    <a:bodyPr/>
                    <a:lstStyle/>
                    <a:p>
                      <a:pPr>
                        <a:defRPr sz="800">
                          <a:solidFill>
                            <a:srgbClr val="111827"/>
                          </a:solidFill>
                        </a:defRPr>
                      </a:pPr>
                      <a:r>
                        <a:t>4. Nha Trang &amp; High.</a:t>
                      </a:r>
                    </a:p>
                  </a:txBody>
                  <a:tcPr>
                    <a:solidFill>
                      <a:srgbClr val="FFFFFF"/>
                    </a:solidFill>
                  </a:tcPr>
                </a:tc>
                <a:tc>
                  <a:txBody>
                    <a:bodyPr/>
                    <a:lstStyle/>
                    <a:p>
                      <a:pPr>
                        <a:defRPr sz="800">
                          <a:solidFill>
                            <a:srgbClr val="111827"/>
                          </a:solidFill>
                        </a:defRPr>
                      </a:pPr>
                      <a:r>
                        <a:t>57 Distributors</a:t>
                      </a:r>
                    </a:p>
                  </a:txBody>
                  <a:tcPr>
                    <a:solidFill>
                      <a:srgbClr val="FFFFFF"/>
                    </a:solidFill>
                  </a:tcPr>
                </a:tc>
                <a:tc>
                  <a:txBody>
                    <a:bodyPr/>
                    <a:lstStyle/>
                    <a:p>
                      <a:pPr>
                        <a:defRPr sz="800">
                          <a:solidFill>
                            <a:srgbClr val="111827"/>
                          </a:solidFill>
                        </a:defRPr>
                      </a:pPr>
                      <a:r>
                        <a:t>11.8 km</a:t>
                      </a:r>
                    </a:p>
                  </a:txBody>
                  <a:tcPr>
                    <a:solidFill>
                      <a:srgbClr val="FFFFFF"/>
                    </a:solidFill>
                  </a:tcPr>
                </a:tc>
                <a:tc>
                  <a:txBody>
                    <a:bodyPr/>
                    <a:lstStyle/>
                    <a:p>
                      <a:pPr>
                        <a:defRPr sz="800">
                          <a:solidFill>
                            <a:srgbClr val="111827"/>
                          </a:solidFill>
                        </a:defRPr>
                      </a:pPr>
                      <a:r>
                        <a:t>88 drops</a:t>
                      </a:r>
                    </a:p>
                  </a:txBody>
                  <a:tcPr>
                    <a:solidFill>
                      <a:srgbClr val="FFFFFF"/>
                    </a:solidFill>
                  </a:tcPr>
                </a:tc>
                <a:tc>
                  <a:txBody>
                    <a:bodyPr/>
                    <a:lstStyle/>
                    <a:p>
                      <a:pPr>
                        <a:defRPr sz="800">
                          <a:solidFill>
                            <a:srgbClr val="111827"/>
                          </a:solidFill>
                        </a:defRPr>
                      </a:pPr>
                      <a:r>
                        <a:t>24.0%</a:t>
                      </a:r>
                    </a:p>
                  </a:txBody>
                  <a:tcPr>
                    <a:solidFill>
                      <a:srgbClr val="FFFFFF"/>
                    </a:solidFill>
                  </a:tcPr>
                </a:tc>
                <a:tc>
                  <a:txBody>
                    <a:bodyPr/>
                    <a:lstStyle/>
                    <a:p>
                      <a:pPr>
                        <a:defRPr sz="800">
                          <a:solidFill>
                            <a:srgbClr val="111827"/>
                          </a:solidFill>
                        </a:defRPr>
                      </a:pPr>
                      <a:r>
                        <a:t>Mountain pass topography; unserved retail clusters in Buon Ho &amp; Ayun Pa</a:t>
                      </a:r>
                    </a:p>
                  </a:txBody>
                  <a:tcPr>
                    <a:solidFill>
                      <a:srgbClr val="FFFFFF"/>
                    </a:solidFill>
                  </a:tcPr>
                </a:tc>
              </a:tr>
              <a:tr h="418011">
                <a:tc>
                  <a:txBody>
                    <a:bodyPr/>
                    <a:lstStyle/>
                    <a:p>
                      <a:pPr>
                        <a:defRPr sz="800">
                          <a:solidFill>
                            <a:srgbClr val="111827"/>
                          </a:solidFill>
                        </a:defRPr>
                      </a:pPr>
                      <a:r>
                        <a:t>5. Da Nang &amp; Central</a:t>
                      </a:r>
                    </a:p>
                  </a:txBody>
                  <a:tcPr>
                    <a:solidFill>
                      <a:srgbClr val="FFFFFF"/>
                    </a:solidFill>
                  </a:tcPr>
                </a:tc>
                <a:tc>
                  <a:txBody>
                    <a:bodyPr/>
                    <a:lstStyle/>
                    <a:p>
                      <a:pPr>
                        <a:defRPr sz="800">
                          <a:solidFill>
                            <a:srgbClr val="111827"/>
                          </a:solidFill>
                        </a:defRPr>
                      </a:pPr>
                      <a:r>
                        <a:t>16 Distributors</a:t>
                      </a:r>
                    </a:p>
                  </a:txBody>
                  <a:tcPr>
                    <a:solidFill>
                      <a:srgbClr val="FFFFFF"/>
                    </a:solidFill>
                  </a:tcPr>
                </a:tc>
                <a:tc>
                  <a:txBody>
                    <a:bodyPr/>
                    <a:lstStyle/>
                    <a:p>
                      <a:pPr>
                        <a:defRPr sz="800">
                          <a:solidFill>
                            <a:srgbClr val="111827"/>
                          </a:solidFill>
                        </a:defRPr>
                      </a:pPr>
                      <a:r>
                        <a:t>10.1 km</a:t>
                      </a:r>
                    </a:p>
                  </a:txBody>
                  <a:tcPr>
                    <a:solidFill>
                      <a:srgbClr val="FFFFFF"/>
                    </a:solidFill>
                  </a:tcPr>
                </a:tc>
                <a:tc>
                  <a:txBody>
                    <a:bodyPr/>
                    <a:lstStyle/>
                    <a:p>
                      <a:pPr>
                        <a:defRPr sz="800">
                          <a:solidFill>
                            <a:srgbClr val="111827"/>
                          </a:solidFill>
                        </a:defRPr>
                      </a:pPr>
                      <a:r>
                        <a:t>26 drops</a:t>
                      </a:r>
                    </a:p>
                  </a:txBody>
                  <a:tcPr>
                    <a:solidFill>
                      <a:srgbClr val="FFFFFF"/>
                    </a:solidFill>
                  </a:tcPr>
                </a:tc>
                <a:tc>
                  <a:txBody>
                    <a:bodyPr/>
                    <a:lstStyle/>
                    <a:p>
                      <a:pPr>
                        <a:defRPr sz="800">
                          <a:solidFill>
                            <a:srgbClr val="111827"/>
                          </a:solidFill>
                        </a:defRPr>
                      </a:pPr>
                      <a:r>
                        <a:t>30.7%</a:t>
                      </a:r>
                    </a:p>
                  </a:txBody>
                  <a:tcPr>
                    <a:solidFill>
                      <a:srgbClr val="FFFFFF"/>
                    </a:solidFill>
                  </a:tcPr>
                </a:tc>
                <a:tc>
                  <a:txBody>
                    <a:bodyPr/>
                    <a:lstStyle/>
                    <a:p>
                      <a:pPr>
                        <a:defRPr sz="800">
                          <a:solidFill>
                            <a:srgbClr val="111827"/>
                          </a:solidFill>
                        </a:defRPr>
                      </a:pPr>
                      <a:r>
                        <a:t>Hai Van Pass transit barrier; unserved corridor in North Quang Binh</a:t>
                      </a:r>
                    </a:p>
                  </a:txBody>
                  <a:tcPr>
                    <a:solidFill>
                      <a:srgbClr val="FFFFFF"/>
                    </a:solidFill>
                  </a:tcPr>
                </a:tc>
              </a:tr>
              <a:tr h="418014">
                <a:tc>
                  <a:txBody>
                    <a:bodyPr/>
                    <a:lstStyle/>
                    <a:p>
                      <a:pPr>
                        <a:defRPr sz="800">
                          <a:solidFill>
                            <a:srgbClr val="111827"/>
                          </a:solidFill>
                        </a:defRPr>
                      </a:pPr>
                      <a:r>
                        <a:t>6. Ho Chi Minh City</a:t>
                      </a:r>
                    </a:p>
                  </a:txBody>
                  <a:tcPr>
                    <a:solidFill>
                      <a:srgbClr val="FFFFFF"/>
                    </a:solidFill>
                  </a:tcPr>
                </a:tc>
                <a:tc>
                  <a:txBody>
                    <a:bodyPr/>
                    <a:lstStyle/>
                    <a:p>
                      <a:pPr>
                        <a:defRPr sz="800">
                          <a:solidFill>
                            <a:srgbClr val="111827"/>
                          </a:solidFill>
                        </a:defRPr>
                      </a:pPr>
                      <a:r>
                        <a:t>35 Distributors</a:t>
                      </a:r>
                    </a:p>
                  </a:txBody>
                  <a:tcPr>
                    <a:solidFill>
                      <a:srgbClr val="FFFFFF"/>
                    </a:solidFill>
                  </a:tcPr>
                </a:tc>
                <a:tc>
                  <a:txBody>
                    <a:bodyPr/>
                    <a:lstStyle/>
                    <a:p>
                      <a:pPr>
                        <a:defRPr sz="800">
                          <a:solidFill>
                            <a:srgbClr val="111827"/>
                          </a:solidFill>
                        </a:defRPr>
                      </a:pPr>
                      <a:r>
                        <a:t>6.2 km</a:t>
                      </a:r>
                    </a:p>
                  </a:txBody>
                  <a:tcPr>
                    <a:solidFill>
                      <a:srgbClr val="FFFFFF"/>
                    </a:solidFill>
                  </a:tcPr>
                </a:tc>
                <a:tc>
                  <a:txBody>
                    <a:bodyPr/>
                    <a:lstStyle/>
                    <a:p>
                      <a:pPr>
                        <a:defRPr sz="800">
                          <a:solidFill>
                            <a:srgbClr val="111827"/>
                          </a:solidFill>
                        </a:defRPr>
                      </a:pPr>
                      <a:r>
                        <a:t>0 drops</a:t>
                      </a:r>
                    </a:p>
                  </a:txBody>
                  <a:tcPr>
                    <a:solidFill>
                      <a:srgbClr val="FFFFFF"/>
                    </a:solidFill>
                  </a:tcPr>
                </a:tc>
                <a:tc>
                  <a:txBody>
                    <a:bodyPr/>
                    <a:lstStyle/>
                    <a:p>
                      <a:pPr>
                        <a:defRPr sz="800">
                          <a:solidFill>
                            <a:srgbClr val="111827"/>
                          </a:solidFill>
                        </a:defRPr>
                      </a:pPr>
                      <a:r>
                        <a:t>25.2%</a:t>
                      </a:r>
                    </a:p>
                  </a:txBody>
                  <a:tcPr>
                    <a:solidFill>
                      <a:srgbClr val="FFFFFF"/>
                    </a:solidFill>
                  </a:tcPr>
                </a:tc>
                <a:tc>
                  <a:txBody>
                    <a:bodyPr/>
                    <a:lstStyle/>
                    <a:p>
                      <a:pPr>
                        <a:defRPr sz="800">
                          <a:solidFill>
                            <a:srgbClr val="111827"/>
                          </a:solidFill>
                        </a:defRPr>
                      </a:pPr>
                      <a:r>
                        <a:t>High urban retail density; zero remote drops; surplus sales management capacity</a:t>
                      </a:r>
                    </a:p>
                  </a:txBody>
                  <a:tcPr>
                    <a:solidFill>
                      <a:srgbClr val="FFFFFF"/>
                    </a:solidFill>
                  </a:tcPr>
                </a:tc>
              </a:tr>
            </a:tbl>
          </a:graphicData>
        </a:graphic>
      </p:graphicFrame>
      <p:sp>
        <p:nvSpPr>
          <p:cNvPr id="16" name="Rounded Rectangle 15"/>
          <p:cNvSpPr/>
          <p:nvPr/>
        </p:nvSpPr>
        <p:spPr>
          <a:xfrm>
            <a:off x="4480560" y="5303520"/>
            <a:ext cx="7296912" cy="109728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defRPr sz="900" b="1">
                <a:solidFill>
                  <a:srgbClr val="991B1B"/>
                </a:solidFill>
              </a:defRPr>
            </a:pPr>
            <a:r>
              <a:t>DUAL STRATEGIC MANDATE: LOGISTICS OPTIMIZATION AND INDIRECT WHITE SPACE REACH</a:t>
            </a:r>
          </a:p>
          <a:p>
            <a:pPr>
              <a:defRPr sz="819">
                <a:solidFill>
                  <a:srgbClr val="111827"/>
                </a:solidFill>
              </a:defRPr>
            </a:pPr>
            <a:r>
              <a:t>Deploying C1 Partners serves a dual operational purpose. Beyond eliminating unprofitable LTL delivery routes exceeding 45km, C1s serve as extended commercial arms. By utilizing existing partner wholesale fleets, CJ Foods expands indirect numeric distribution across thousands of Golden Outlets without adding sales headcount.</a:t>
            </a:r>
          </a:p>
        </p:txBody>
      </p:sp>
      <p:sp>
        <p:nvSpPr>
          <p:cNvPr id="17" name="TextBox 16"/>
          <p:cNvSpPr txBox="1"/>
          <p:nvPr/>
        </p:nvSpPr>
        <p:spPr>
          <a:xfrm>
            <a:off x="411480" y="6565392"/>
            <a:ext cx="11365992" cy="201168"/>
          </a:xfrm>
          <a:prstGeom prst="rect">
            <a:avLst/>
          </a:prstGeom>
          <a:noFill/>
        </p:spPr>
        <p:txBody>
          <a:bodyPr wrap="none" lIns="0" tIns="0" rIns="0" bIns="0">
            <a:spAutoFit/>
          </a:bodyPr>
          <a:lstStyle/>
          <a:p>
            <a:pPr>
              <a:defRPr sz="850">
                <a:solidFill>
                  <a:srgbClr val="94A3B8"/>
                </a:solidFill>
              </a:defRPr>
            </a:pPr>
            <a:r>
              <a:t>Nationwide Route-to-Market Diagnostic Survey 2026   •   Confidential • CJ Foods Vietnam •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9326880" cy="502920"/>
          </a:xfrm>
          <a:prstGeom prst="rect">
            <a:avLst/>
          </a:prstGeom>
          <a:noFill/>
        </p:spPr>
        <p:txBody>
          <a:bodyPr wrap="square" lIns="0" tIns="0" rIns="0" bIns="0">
            <a:spAutoFit/>
          </a:bodyPr>
          <a:lstStyle/>
          <a:p>
            <a:pPr>
              <a:defRPr sz="2000" b="1">
                <a:solidFill>
                  <a:srgbClr val="111827"/>
                </a:solidFill>
              </a:defRPr>
            </a:pPr>
            <a:r>
              <a:t>2027 Strategic Architecture: Four Levers to Transform RTM Network &amp; Drive GT Growth</a:t>
            </a:r>
          </a:p>
        </p:txBody>
      </p:sp>
      <p:sp>
        <p:nvSpPr>
          <p:cNvPr id="4" name="Rounded Rectangle 3"/>
          <p:cNvSpPr/>
          <p:nvPr/>
        </p:nvSpPr>
        <p:spPr>
          <a:xfrm>
            <a:off x="9601200" y="256032"/>
            <a:ext cx="2194560" cy="29260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75985"/>
                </a:solidFill>
              </a:defRPr>
            </a:pPr>
            <a:r>
              <a:t>CJ FOODS RTM</a:t>
            </a:r>
          </a:p>
        </p:txBody>
      </p:sp>
      <p:sp>
        <p:nvSpPr>
          <p:cNvPr id="5" name="TextBox 4"/>
          <p:cNvSpPr txBox="1"/>
          <p:nvPr/>
        </p:nvSpPr>
        <p:spPr>
          <a:xfrm>
            <a:off x="411480" y="749808"/>
            <a:ext cx="11338560" cy="228600"/>
          </a:xfrm>
          <a:prstGeom prst="rect">
            <a:avLst/>
          </a:prstGeom>
          <a:noFill/>
        </p:spPr>
        <p:txBody>
          <a:bodyPr wrap="none" lIns="0" tIns="0" rIns="0" bIns="0">
            <a:spAutoFit/>
          </a:bodyPr>
          <a:lstStyle/>
          <a:p>
            <a:pPr>
              <a:defRPr sz="919" b="1">
                <a:solidFill>
                  <a:srgbClr val="64748B"/>
                </a:solidFill>
              </a:defRPr>
            </a:pPr>
            <a:r>
              <a:t>EXECUTIVE STRATEGIC LEVERS • PROJECTED REVENUE GROWTH ALLOCATIONS &amp; LOGISTICS COST REDUCTIONS</a:t>
            </a:r>
          </a:p>
        </p:txBody>
      </p:sp>
      <p:sp>
        <p:nvSpPr>
          <p:cNvPr id="6" name="Rounded Rectangle 5"/>
          <p:cNvSpPr/>
          <p:nvPr/>
        </p:nvSpPr>
        <p:spPr>
          <a:xfrm>
            <a:off x="411480" y="1051560"/>
            <a:ext cx="272491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161288"/>
            <a:ext cx="1645920" cy="22860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991B1B"/>
                </a:solidFill>
              </a:defRPr>
            </a:pPr>
            <a:r>
              <a:t>1 - C1 PARTNERS</a:t>
            </a:r>
          </a:p>
        </p:txBody>
      </p:sp>
      <p:sp>
        <p:nvSpPr>
          <p:cNvPr id="8" name="TextBox 7"/>
          <p:cNvSpPr txBox="1"/>
          <p:nvPr/>
        </p:nvSpPr>
        <p:spPr>
          <a:xfrm>
            <a:off x="548640" y="1417320"/>
            <a:ext cx="2450592" cy="594360"/>
          </a:xfrm>
          <a:prstGeom prst="rect">
            <a:avLst/>
          </a:prstGeom>
          <a:noFill/>
        </p:spPr>
        <p:txBody>
          <a:bodyPr wrap="none">
            <a:spAutoFit/>
          </a:bodyPr>
          <a:lstStyle/>
          <a:p>
            <a:pPr>
              <a:defRPr sz="2800" b="1">
                <a:solidFill>
                  <a:srgbClr val="DC2626"/>
                </a:solidFill>
              </a:defRPr>
            </a:pPr>
            <a:r>
              <a:t>+26.5B</a:t>
            </a:r>
          </a:p>
        </p:txBody>
      </p:sp>
      <p:sp>
        <p:nvSpPr>
          <p:cNvPr id="9" name="TextBox 8"/>
          <p:cNvSpPr txBox="1"/>
          <p:nvPr/>
        </p:nvSpPr>
        <p:spPr>
          <a:xfrm>
            <a:off x="548640" y="2057400"/>
            <a:ext cx="2450592" cy="594360"/>
          </a:xfrm>
          <a:prstGeom prst="rect">
            <a:avLst/>
          </a:prstGeom>
          <a:noFill/>
        </p:spPr>
        <p:txBody>
          <a:bodyPr wrap="square">
            <a:spAutoFit/>
          </a:bodyPr>
          <a:lstStyle/>
          <a:p>
            <a:pPr>
              <a:defRPr sz="980" b="1">
                <a:solidFill>
                  <a:srgbClr val="111827"/>
                </a:solidFill>
              </a:defRPr>
            </a:pPr>
            <a:r>
              <a:t>Deploy 14 C1 Partners to Capture White Spaces and Cut Remote Logistics</a:t>
            </a:r>
          </a:p>
        </p:txBody>
      </p:sp>
      <p:sp>
        <p:nvSpPr>
          <p:cNvPr id="10" name="Rectangle 9"/>
          <p:cNvSpPr/>
          <p:nvPr/>
        </p:nvSpPr>
        <p:spPr>
          <a:xfrm>
            <a:off x="548640" y="2743200"/>
            <a:ext cx="245059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34640"/>
            <a:ext cx="2450592" cy="1097280"/>
          </a:xfrm>
          <a:prstGeom prst="rect">
            <a:avLst/>
          </a:prstGeom>
          <a:noFill/>
        </p:spPr>
        <p:txBody>
          <a:bodyPr wrap="square">
            <a:spAutoFit/>
          </a:bodyPr>
          <a:lstStyle/>
          <a:p>
            <a:pPr>
              <a:defRPr sz="850" b="1">
                <a:solidFill>
                  <a:srgbClr val="64748B"/>
                </a:solidFill>
              </a:defRPr>
            </a:pPr>
            <a:r>
              <a:t>TODAY</a:t>
            </a:r>
          </a:p>
          <a:p>
            <a:pPr>
              <a:defRPr sz="819">
                <a:solidFill>
                  <a:srgbClr val="111827"/>
                </a:solidFill>
              </a:defRPr>
            </a:pPr>
            <a:r>
              <a:t>High-volume Golden Outlets across remote districts receive zero direct DSR visits. Unserved territories remain fully conceded to regional competitors.</a:t>
            </a:r>
          </a:p>
        </p:txBody>
      </p:sp>
      <p:sp>
        <p:nvSpPr>
          <p:cNvPr id="12" name="Rounded Rectangle 11"/>
          <p:cNvSpPr/>
          <p:nvPr/>
        </p:nvSpPr>
        <p:spPr>
          <a:xfrm>
            <a:off x="521208" y="4114800"/>
            <a:ext cx="2505456" cy="1417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4114800"/>
            <a:ext cx="54864" cy="1417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60520"/>
            <a:ext cx="2313432" cy="1325880"/>
          </a:xfrm>
          <a:prstGeom prst="rect">
            <a:avLst/>
          </a:prstGeom>
          <a:noFill/>
        </p:spPr>
        <p:txBody>
          <a:bodyPr wrap="square">
            <a:spAutoFit/>
          </a:bodyPr>
          <a:lstStyle/>
          <a:p>
            <a:pPr>
              <a:defRPr sz="850" b="1">
                <a:solidFill>
                  <a:srgbClr val="DC2626"/>
                </a:solidFill>
              </a:defRPr>
            </a:pPr>
            <a:r>
              <a:t>KEY MOVE</a:t>
            </a:r>
          </a:p>
          <a:p>
            <a:pPr>
              <a:defRPr sz="800">
                <a:solidFill>
                  <a:srgbClr val="111827"/>
                </a:solidFill>
              </a:defRPr>
            </a:pPr>
            <a:r>
              <a:t>Leverage C1 wholesale fleet to secure indirect numeric distribution across 2,000 Golden Outlets with zero incremental salesforce overhead.</a:t>
            </a:r>
          </a:p>
        </p:txBody>
      </p:sp>
      <p:sp>
        <p:nvSpPr>
          <p:cNvPr id="15" name="Rounded Rectangle 14"/>
          <p:cNvSpPr/>
          <p:nvPr/>
        </p:nvSpPr>
        <p:spPr>
          <a:xfrm>
            <a:off x="3291840" y="1051560"/>
            <a:ext cx="272491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29000" y="1161288"/>
            <a:ext cx="1645920" cy="2286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75985"/>
                </a:solidFill>
              </a:defRPr>
            </a:pPr>
            <a:r>
              <a:t>2 - ROUTE OPTIMIZATION</a:t>
            </a:r>
          </a:p>
        </p:txBody>
      </p:sp>
      <p:sp>
        <p:nvSpPr>
          <p:cNvPr id="17" name="TextBox 16"/>
          <p:cNvSpPr txBox="1"/>
          <p:nvPr/>
        </p:nvSpPr>
        <p:spPr>
          <a:xfrm>
            <a:off x="3429000" y="1417320"/>
            <a:ext cx="2450592" cy="594360"/>
          </a:xfrm>
          <a:prstGeom prst="rect">
            <a:avLst/>
          </a:prstGeom>
          <a:noFill/>
        </p:spPr>
        <p:txBody>
          <a:bodyPr wrap="none">
            <a:spAutoFit/>
          </a:bodyPr>
          <a:lstStyle/>
          <a:p>
            <a:pPr>
              <a:defRPr sz="2800" b="1">
                <a:solidFill>
                  <a:srgbClr val="0284C7"/>
                </a:solidFill>
              </a:defRPr>
            </a:pPr>
            <a:r>
              <a:t>-8.6B</a:t>
            </a:r>
          </a:p>
          <a:p>
            <a:pPr>
              <a:defRPr sz="1000" b="1">
                <a:solidFill>
                  <a:srgbClr val="64748B"/>
                </a:solidFill>
              </a:defRPr>
            </a:pPr>
            <a:r>
              <a:t>Logistics Savings</a:t>
            </a:r>
          </a:p>
        </p:txBody>
      </p:sp>
      <p:sp>
        <p:nvSpPr>
          <p:cNvPr id="18" name="TextBox 17"/>
          <p:cNvSpPr txBox="1"/>
          <p:nvPr/>
        </p:nvSpPr>
        <p:spPr>
          <a:xfrm>
            <a:off x="3429000" y="2057400"/>
            <a:ext cx="2450592" cy="594360"/>
          </a:xfrm>
          <a:prstGeom prst="rect">
            <a:avLst/>
          </a:prstGeom>
          <a:noFill/>
        </p:spPr>
        <p:txBody>
          <a:bodyPr wrap="square">
            <a:spAutoFit/>
          </a:bodyPr>
          <a:lstStyle/>
          <a:p>
            <a:pPr>
              <a:defRPr sz="980" b="1">
                <a:solidFill>
                  <a:srgbClr val="111827"/>
                </a:solidFill>
              </a:defRPr>
            </a:pPr>
            <a:r>
              <a:t>Cut 69% Remote Drop Volume via Direct FCL Bulk Shipments</a:t>
            </a:r>
          </a:p>
        </p:txBody>
      </p:sp>
      <p:sp>
        <p:nvSpPr>
          <p:cNvPr id="19" name="Rectangle 18"/>
          <p:cNvSpPr/>
          <p:nvPr/>
        </p:nvSpPr>
        <p:spPr>
          <a:xfrm>
            <a:off x="3429000" y="2743200"/>
            <a:ext cx="245059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29000" y="2834640"/>
            <a:ext cx="2450592" cy="1097280"/>
          </a:xfrm>
          <a:prstGeom prst="rect">
            <a:avLst/>
          </a:prstGeom>
          <a:noFill/>
        </p:spPr>
        <p:txBody>
          <a:bodyPr wrap="square">
            <a:spAutoFit/>
          </a:bodyPr>
          <a:lstStyle/>
          <a:p>
            <a:pPr>
              <a:defRPr sz="850" b="1">
                <a:solidFill>
                  <a:srgbClr val="64748B"/>
                </a:solidFill>
              </a:defRPr>
            </a:pPr>
            <a:r>
              <a:t>TODAY</a:t>
            </a:r>
          </a:p>
          <a:p>
            <a:pPr>
              <a:defRPr sz="819">
                <a:solidFill>
                  <a:srgbClr val="111827"/>
                </a:solidFill>
              </a:defRPr>
            </a:pPr>
            <a:r>
              <a:t>2,452 retail outlets exceed 45km delivery radius. Hai Phong and Can Tho suffer excessive LTL delivery runs, eroding 15% distributor gross margin.</a:t>
            </a:r>
          </a:p>
        </p:txBody>
      </p:sp>
      <p:sp>
        <p:nvSpPr>
          <p:cNvPr id="21" name="Rounded Rectangle 20"/>
          <p:cNvSpPr/>
          <p:nvPr/>
        </p:nvSpPr>
        <p:spPr>
          <a:xfrm>
            <a:off x="3401568" y="4114800"/>
            <a:ext cx="2505456" cy="1417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01568" y="4114800"/>
            <a:ext cx="54864" cy="14173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40" y="4160520"/>
            <a:ext cx="2313432" cy="1325880"/>
          </a:xfrm>
          <a:prstGeom prst="rect">
            <a:avLst/>
          </a:prstGeom>
          <a:noFill/>
        </p:spPr>
        <p:txBody>
          <a:bodyPr wrap="square">
            <a:spAutoFit/>
          </a:bodyPr>
          <a:lstStyle/>
          <a:p>
            <a:pPr>
              <a:defRPr sz="850" b="1">
                <a:solidFill>
                  <a:srgbClr val="0284C7"/>
                </a:solidFill>
              </a:defRPr>
            </a:pPr>
            <a:r>
              <a:t>KEY MOVE</a:t>
            </a:r>
          </a:p>
          <a:p>
            <a:pPr>
              <a:defRPr sz="800">
                <a:solidFill>
                  <a:srgbClr val="111827"/>
                </a:solidFill>
              </a:defRPr>
            </a:pPr>
            <a:r>
              <a:t>Transfer 1,695 remote retail drops to C1 Partners via weekly 8-ton refrigerated truckloads. Enforce 1.2M VND dynamic order minimum.</a:t>
            </a:r>
          </a:p>
        </p:txBody>
      </p:sp>
      <p:sp>
        <p:nvSpPr>
          <p:cNvPr id="24" name="Rounded Rectangle 23"/>
          <p:cNvSpPr/>
          <p:nvPr/>
        </p:nvSpPr>
        <p:spPr>
          <a:xfrm>
            <a:off x="6172200" y="1051560"/>
            <a:ext cx="272491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09360" y="1161288"/>
            <a:ext cx="1645920" cy="22860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15803D"/>
                </a:solidFill>
              </a:defRPr>
            </a:pPr>
            <a:r>
              <a:t>3 - FIELD GOVERNANCE</a:t>
            </a:r>
          </a:p>
        </p:txBody>
      </p:sp>
      <p:sp>
        <p:nvSpPr>
          <p:cNvPr id="26" name="TextBox 25"/>
          <p:cNvSpPr txBox="1"/>
          <p:nvPr/>
        </p:nvSpPr>
        <p:spPr>
          <a:xfrm>
            <a:off x="6309360" y="1417320"/>
            <a:ext cx="2450592" cy="594360"/>
          </a:xfrm>
          <a:prstGeom prst="rect">
            <a:avLst/>
          </a:prstGeom>
          <a:noFill/>
        </p:spPr>
        <p:txBody>
          <a:bodyPr wrap="none">
            <a:spAutoFit/>
          </a:bodyPr>
          <a:lstStyle/>
          <a:p>
            <a:pPr>
              <a:defRPr sz="2800" b="1">
                <a:solidFill>
                  <a:srgbClr val="16A34A"/>
                </a:solidFill>
              </a:defRPr>
            </a:pPr>
            <a:r>
              <a:t>100%</a:t>
            </a:r>
          </a:p>
          <a:p>
            <a:pPr>
              <a:defRPr sz="1000" b="1">
                <a:solidFill>
                  <a:srgbClr val="64748B"/>
                </a:solidFill>
              </a:defRPr>
            </a:pPr>
            <a:r>
              <a:t>Top 50 Supervised</a:t>
            </a:r>
          </a:p>
        </p:txBody>
      </p:sp>
      <p:sp>
        <p:nvSpPr>
          <p:cNvPr id="27" name="TextBox 26"/>
          <p:cNvSpPr txBox="1"/>
          <p:nvPr/>
        </p:nvSpPr>
        <p:spPr>
          <a:xfrm>
            <a:off x="6309360" y="2057400"/>
            <a:ext cx="2450592" cy="594360"/>
          </a:xfrm>
          <a:prstGeom prst="rect">
            <a:avLst/>
          </a:prstGeom>
          <a:noFill/>
        </p:spPr>
        <p:txBody>
          <a:bodyPr wrap="square">
            <a:spAutoFit/>
          </a:bodyPr>
          <a:lstStyle/>
          <a:p>
            <a:pPr>
              <a:defRPr sz="980" b="1">
                <a:solidFill>
                  <a:srgbClr val="111827"/>
                </a:solidFill>
              </a:defRPr>
            </a:pPr>
            <a:r>
              <a:t>Deploy Full Supervision Across Top 50 Distributors at Zero Headcount Cost</a:t>
            </a:r>
          </a:p>
        </p:txBody>
      </p:sp>
      <p:sp>
        <p:nvSpPr>
          <p:cNvPr id="28" name="Rectangle 27"/>
          <p:cNvSpPr/>
          <p:nvPr/>
        </p:nvSpPr>
        <p:spPr>
          <a:xfrm>
            <a:off x="6309360" y="2743200"/>
            <a:ext cx="245059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2834640"/>
            <a:ext cx="2450592" cy="1097280"/>
          </a:xfrm>
          <a:prstGeom prst="rect">
            <a:avLst/>
          </a:prstGeom>
          <a:noFill/>
        </p:spPr>
        <p:txBody>
          <a:bodyPr wrap="square">
            <a:spAutoFit/>
          </a:bodyPr>
          <a:lstStyle/>
          <a:p>
            <a:pPr>
              <a:defRPr sz="850" b="1">
                <a:solidFill>
                  <a:srgbClr val="64748B"/>
                </a:solidFill>
              </a:defRPr>
            </a:pPr>
            <a:r>
              <a:t>TODAY</a:t>
            </a:r>
          </a:p>
          <a:p>
            <a:pPr>
              <a:defRPr sz="819">
                <a:solidFill>
                  <a:srgbClr val="111827"/>
                </a:solidFill>
              </a:defRPr>
            </a:pPr>
            <a:r>
              <a:t>28 active distributors operate without dedicated field supervision. Four Top 50 distributors remain unstaffed, driving cross-territory price leakage.</a:t>
            </a:r>
          </a:p>
        </p:txBody>
      </p:sp>
      <p:sp>
        <p:nvSpPr>
          <p:cNvPr id="30" name="Rounded Rectangle 29"/>
          <p:cNvSpPr/>
          <p:nvPr/>
        </p:nvSpPr>
        <p:spPr>
          <a:xfrm>
            <a:off x="6281928" y="4114800"/>
            <a:ext cx="2505456" cy="1417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81928" y="4114800"/>
            <a:ext cx="54864" cy="1417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4160520"/>
            <a:ext cx="2313432" cy="1325880"/>
          </a:xfrm>
          <a:prstGeom prst="rect">
            <a:avLst/>
          </a:prstGeom>
          <a:noFill/>
        </p:spPr>
        <p:txBody>
          <a:bodyPr wrap="square">
            <a:spAutoFit/>
          </a:bodyPr>
          <a:lstStyle/>
          <a:p>
            <a:pPr>
              <a:defRPr sz="850" b="1">
                <a:solidFill>
                  <a:srgbClr val="16A34A"/>
                </a:solidFill>
              </a:defRPr>
            </a:pPr>
            <a:r>
              <a:t>KEY MOVE</a:t>
            </a:r>
          </a:p>
          <a:p>
            <a:pPr>
              <a:defRPr sz="800">
                <a:solidFill>
                  <a:srgbClr val="111827"/>
                </a:solidFill>
              </a:defRPr>
            </a:pPr>
            <a:r>
              <a:t>Reallocate 4 Sales Managers from Ho Chi Minh City to Mekong Delta and 2 to North-West corridor. Enforce 100% DMS GPS visit compliance.</a:t>
            </a:r>
          </a:p>
        </p:txBody>
      </p:sp>
      <p:sp>
        <p:nvSpPr>
          <p:cNvPr id="33" name="Rounded Rectangle 32"/>
          <p:cNvSpPr/>
          <p:nvPr/>
        </p:nvSpPr>
        <p:spPr>
          <a:xfrm>
            <a:off x="9052560" y="1051560"/>
            <a:ext cx="272491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189720" y="1161288"/>
            <a:ext cx="1645920" cy="228600"/>
          </a:xfrm>
          <a:prstGeom prst="round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6D28D9"/>
                </a:solidFill>
              </a:defRPr>
            </a:pPr>
            <a:r>
              <a:t>4 - OUTLET IN-FILL</a:t>
            </a:r>
          </a:p>
        </p:txBody>
      </p:sp>
      <p:sp>
        <p:nvSpPr>
          <p:cNvPr id="35" name="TextBox 34"/>
          <p:cNvSpPr txBox="1"/>
          <p:nvPr/>
        </p:nvSpPr>
        <p:spPr>
          <a:xfrm>
            <a:off x="9189720" y="1417320"/>
            <a:ext cx="2450592" cy="594360"/>
          </a:xfrm>
          <a:prstGeom prst="rect">
            <a:avLst/>
          </a:prstGeom>
          <a:noFill/>
        </p:spPr>
        <p:txBody>
          <a:bodyPr wrap="none">
            <a:spAutoFit/>
          </a:bodyPr>
          <a:lstStyle/>
          <a:p>
            <a:pPr>
              <a:defRPr sz="2800" b="1">
                <a:solidFill>
                  <a:srgbClr val="7C3AED"/>
                </a:solidFill>
              </a:defRPr>
            </a:pPr>
            <a:r>
              <a:t>+15.8B</a:t>
            </a:r>
          </a:p>
        </p:txBody>
      </p:sp>
      <p:sp>
        <p:nvSpPr>
          <p:cNvPr id="36" name="TextBox 35"/>
          <p:cNvSpPr txBox="1"/>
          <p:nvPr/>
        </p:nvSpPr>
        <p:spPr>
          <a:xfrm>
            <a:off x="9189720" y="2057400"/>
            <a:ext cx="2450592" cy="594360"/>
          </a:xfrm>
          <a:prstGeom prst="rect">
            <a:avLst/>
          </a:prstGeom>
          <a:noFill/>
        </p:spPr>
        <p:txBody>
          <a:bodyPr wrap="square">
            <a:spAutoFit/>
          </a:bodyPr>
          <a:lstStyle/>
          <a:p>
            <a:pPr>
              <a:defRPr sz="980" b="1">
                <a:solidFill>
                  <a:srgbClr val="111827"/>
                </a:solidFill>
              </a:defRPr>
            </a:pPr>
            <a:r>
              <a:t>In-Fill 1,800 High-Potential Golden Outlets into Existing Beats</a:t>
            </a:r>
          </a:p>
        </p:txBody>
      </p:sp>
      <p:sp>
        <p:nvSpPr>
          <p:cNvPr id="37" name="Rectangle 36"/>
          <p:cNvSpPr/>
          <p:nvPr/>
        </p:nvSpPr>
        <p:spPr>
          <a:xfrm>
            <a:off x="9189720" y="2743200"/>
            <a:ext cx="245059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9720" y="2834640"/>
            <a:ext cx="2450592" cy="1097280"/>
          </a:xfrm>
          <a:prstGeom prst="rect">
            <a:avLst/>
          </a:prstGeom>
          <a:noFill/>
        </p:spPr>
        <p:txBody>
          <a:bodyPr wrap="square">
            <a:spAutoFit/>
          </a:bodyPr>
          <a:lstStyle/>
          <a:p>
            <a:pPr>
              <a:defRPr sz="850" b="1">
                <a:solidFill>
                  <a:srgbClr val="64748B"/>
                </a:solidFill>
              </a:defRPr>
            </a:pPr>
            <a:r>
              <a:t>TODAY</a:t>
            </a:r>
          </a:p>
          <a:p>
            <a:pPr>
              <a:defRPr sz="819">
                <a:solidFill>
                  <a:srgbClr val="111827"/>
                </a:solidFill>
              </a:defRPr>
            </a:pPr>
            <a:r>
              <a:t>6,744 verified retail shops sit within 15km of distributor warehouses without active CJ product presence. Cold assortment requires store freezers.</a:t>
            </a:r>
          </a:p>
        </p:txBody>
      </p:sp>
      <p:sp>
        <p:nvSpPr>
          <p:cNvPr id="39" name="Rounded Rectangle 38"/>
          <p:cNvSpPr/>
          <p:nvPr/>
        </p:nvSpPr>
        <p:spPr>
          <a:xfrm>
            <a:off x="9162288" y="4114800"/>
            <a:ext cx="2505456" cy="1417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162288" y="4114800"/>
            <a:ext cx="54864"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81160" y="4160520"/>
            <a:ext cx="2313432" cy="1325880"/>
          </a:xfrm>
          <a:prstGeom prst="rect">
            <a:avLst/>
          </a:prstGeom>
          <a:noFill/>
        </p:spPr>
        <p:txBody>
          <a:bodyPr wrap="square">
            <a:spAutoFit/>
          </a:bodyPr>
          <a:lstStyle/>
          <a:p>
            <a:pPr>
              <a:defRPr sz="850" b="1">
                <a:solidFill>
                  <a:srgbClr val="7C3AED"/>
                </a:solidFill>
              </a:defRPr>
            </a:pPr>
            <a:r>
              <a:t>KEY MOVE</a:t>
            </a:r>
          </a:p>
          <a:p>
            <a:pPr>
              <a:defRPr sz="800">
                <a:solidFill>
                  <a:srgbClr val="111827"/>
                </a:solidFill>
              </a:defRPr>
            </a:pPr>
            <a:r>
              <a:t>Absorb 3 to 5 qualified Golden Outlets per sales beat. Partner with Trade Marketing to deploy dedicated freezers and point-of-sale displays.</a:t>
            </a:r>
          </a:p>
        </p:txBody>
      </p:sp>
      <p:sp>
        <p:nvSpPr>
          <p:cNvPr id="42" name="Rounded Rectangle 41"/>
          <p:cNvSpPr/>
          <p:nvPr/>
        </p:nvSpPr>
        <p:spPr>
          <a:xfrm>
            <a:off x="411480" y="5779008"/>
            <a:ext cx="11365992" cy="621792"/>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852160"/>
            <a:ext cx="11091672" cy="475488"/>
          </a:xfrm>
          <a:prstGeom prst="rect">
            <a:avLst/>
          </a:prstGeom>
          <a:noFill/>
        </p:spPr>
        <p:txBody>
          <a:bodyPr wrap="square">
            <a:spAutoFit/>
          </a:bodyPr>
          <a:lstStyle/>
          <a:p>
            <a:pPr>
              <a:defRPr sz="980" b="1">
                <a:solidFill>
                  <a:srgbClr val="F1F5F9"/>
                </a:solidFill>
              </a:defRPr>
            </a:pPr>
            <a:r>
              <a:t>COMMON THREAD: C1 Partners secure indirect white space distribution  –  FCL bulk drop eliminates costly routes exceeding 45km  –  Zero-budget Sales Manager reallocation secures 100% governance across Top 50 Distributors.</a:t>
            </a:r>
          </a:p>
        </p:txBody>
      </p:sp>
      <p:sp>
        <p:nvSpPr>
          <p:cNvPr id="44" name="TextBox 43"/>
          <p:cNvSpPr txBox="1"/>
          <p:nvPr/>
        </p:nvSpPr>
        <p:spPr>
          <a:xfrm>
            <a:off x="411480" y="6565392"/>
            <a:ext cx="11365992" cy="201168"/>
          </a:xfrm>
          <a:prstGeom prst="rect">
            <a:avLst/>
          </a:prstGeom>
          <a:noFill/>
        </p:spPr>
        <p:txBody>
          <a:bodyPr wrap="none" lIns="0" tIns="0" rIns="0" bIns="0">
            <a:spAutoFit/>
          </a:bodyPr>
          <a:lstStyle/>
          <a:p>
            <a:pPr>
              <a:defRPr sz="850">
                <a:solidFill>
                  <a:srgbClr val="94A3B8"/>
                </a:solidFill>
              </a:defRPr>
            </a:pPr>
            <a:r>
              <a:t>* Levers are mutually reinforcing; C1 volume feeds into regional GT revenue and logistics savings.   •   Confidential • CJ Foods Vietnam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9326880" cy="502920"/>
          </a:xfrm>
          <a:prstGeom prst="rect">
            <a:avLst/>
          </a:prstGeom>
          <a:noFill/>
        </p:spPr>
        <p:txBody>
          <a:bodyPr wrap="square" lIns="0" tIns="0" rIns="0" bIns="0">
            <a:spAutoFit/>
          </a:bodyPr>
          <a:lstStyle/>
          <a:p>
            <a:pPr>
              <a:defRPr sz="2000" b="1">
                <a:solidFill>
                  <a:srgbClr val="111827"/>
                </a:solidFill>
              </a:defRPr>
            </a:pPr>
            <a:r>
              <a:t>Hai Phong Region 2027: C1 Thai Binh &amp; 3 C1s to Eliminate 21.3km Delivery Friction</a:t>
            </a:r>
          </a:p>
        </p:txBody>
      </p:sp>
      <p:sp>
        <p:nvSpPr>
          <p:cNvPr id="4" name="Rounded Rectangle 3"/>
          <p:cNvSpPr/>
          <p:nvPr/>
        </p:nvSpPr>
        <p:spPr>
          <a:xfrm>
            <a:off x="9601200" y="256032"/>
            <a:ext cx="2194560" cy="29260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75985"/>
                </a:solidFill>
              </a:defRPr>
            </a:pPr>
            <a:r>
              <a:t>REGION: HAI PHONG &amp; NE</a:t>
            </a:r>
          </a:p>
        </p:txBody>
      </p:sp>
      <p:sp>
        <p:nvSpPr>
          <p:cNvPr id="5" name="TextBox 4"/>
          <p:cNvSpPr txBox="1"/>
          <p:nvPr/>
        </p:nvSpPr>
        <p:spPr>
          <a:xfrm>
            <a:off x="411480" y="749808"/>
            <a:ext cx="11338560" cy="228600"/>
          </a:xfrm>
          <a:prstGeom prst="rect">
            <a:avLst/>
          </a:prstGeom>
          <a:noFill/>
        </p:spPr>
        <p:txBody>
          <a:bodyPr wrap="none" lIns="0" tIns="0" rIns="0" bIns="0">
            <a:spAutoFit/>
          </a:bodyPr>
          <a:lstStyle/>
          <a:p>
            <a:pPr>
              <a:defRPr sz="919" b="1">
                <a:solidFill>
                  <a:srgbClr val="64748B"/>
                </a:solidFill>
              </a:defRPr>
            </a:pPr>
            <a:r>
              <a:t>REGIONAL RTM BLUEPRINT • 38 ACTIVE DISTRIBUTORS • RESOLVING VIETNAM'S HIGHEST DISTANCE TRAP</a:t>
            </a:r>
          </a:p>
        </p:txBody>
      </p:sp>
      <p:sp>
        <p:nvSpPr>
          <p:cNvPr id="6" name="TextBox 5"/>
          <p:cNvSpPr txBox="1"/>
          <p:nvPr/>
        </p:nvSpPr>
        <p:spPr>
          <a:xfrm>
            <a:off x="411480" y="1051560"/>
            <a:ext cx="3931920" cy="228600"/>
          </a:xfrm>
          <a:prstGeom prst="rect">
            <a:avLst/>
          </a:prstGeom>
          <a:noFill/>
        </p:spPr>
        <p:txBody>
          <a:bodyPr wrap="none">
            <a:spAutoFit/>
          </a:bodyPr>
          <a:lstStyle/>
          <a:p>
            <a:pPr>
              <a:defRPr sz="950" b="1">
                <a:solidFill>
                  <a:srgbClr val="64748B"/>
                </a:solidFill>
              </a:defRPr>
            </a:pPr>
            <a:r>
              <a:t>1. CURRENT RTM DIAGNOSTIC &amp; WHITE SPACE VOIDS</a:t>
            </a:r>
          </a:p>
        </p:txBody>
      </p:sp>
      <p:sp>
        <p:nvSpPr>
          <p:cNvPr id="7" name="Rounded Rectangle 6"/>
          <p:cNvSpPr/>
          <p:nvPr/>
        </p:nvSpPr>
        <p:spPr>
          <a:xfrm>
            <a:off x="411480" y="1280160"/>
            <a:ext cx="1874519"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53312"/>
            <a:ext cx="1655063" cy="768096"/>
          </a:xfrm>
          <a:prstGeom prst="rect">
            <a:avLst/>
          </a:prstGeom>
          <a:noFill/>
        </p:spPr>
        <p:txBody>
          <a:bodyPr wrap="square" lIns="0" tIns="0" rIns="0" bIns="0">
            <a:spAutoFit/>
          </a:bodyPr>
          <a:lstStyle/>
          <a:p>
            <a:pPr>
              <a:spcAft>
                <a:spcPts val="200"/>
              </a:spcAft>
              <a:defRPr sz="1700" b="1">
                <a:solidFill>
                  <a:srgbClr val="DC2626"/>
                </a:solidFill>
              </a:defRPr>
            </a:pPr>
            <a:r>
              <a:t>21.3 km</a:t>
            </a:r>
          </a:p>
          <a:p>
            <a:pPr>
              <a:defRPr sz="900" b="1">
                <a:solidFill>
                  <a:srgbClr val="111827"/>
                </a:solidFill>
              </a:defRPr>
            </a:pPr>
            <a:r>
              <a:t>Avg Drop Distance</a:t>
            </a:r>
          </a:p>
          <a:p>
            <a:pPr>
              <a:defRPr sz="800">
                <a:solidFill>
                  <a:srgbClr val="64748B"/>
                </a:solidFill>
              </a:defRPr>
            </a:pPr>
            <a:r>
              <a:t>Highest distance trap in VN</a:t>
            </a:r>
          </a:p>
        </p:txBody>
      </p:sp>
      <p:sp>
        <p:nvSpPr>
          <p:cNvPr id="9" name="Rounded Rectangle 8"/>
          <p:cNvSpPr/>
          <p:nvPr/>
        </p:nvSpPr>
        <p:spPr>
          <a:xfrm>
            <a:off x="2377440" y="1280160"/>
            <a:ext cx="196596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7168" y="1353312"/>
            <a:ext cx="1746504" cy="768096"/>
          </a:xfrm>
          <a:prstGeom prst="rect">
            <a:avLst/>
          </a:prstGeom>
          <a:noFill/>
        </p:spPr>
        <p:txBody>
          <a:bodyPr wrap="square" lIns="0" tIns="0" rIns="0" bIns="0">
            <a:spAutoFit/>
          </a:bodyPr>
          <a:lstStyle/>
          <a:p>
            <a:pPr>
              <a:spcAft>
                <a:spcPts val="200"/>
              </a:spcAft>
              <a:defRPr sz="1700" b="1">
                <a:solidFill>
                  <a:srgbClr val="DC2626"/>
                </a:solidFill>
              </a:defRPr>
            </a:pPr>
            <a:r>
              <a:t>1,118</a:t>
            </a:r>
          </a:p>
          <a:p>
            <a:pPr>
              <a:defRPr sz="900" b="1">
                <a:solidFill>
                  <a:srgbClr val="111827"/>
                </a:solidFill>
              </a:defRPr>
            </a:pPr>
            <a:r>
              <a:t>Drops &gt;45km</a:t>
            </a:r>
          </a:p>
          <a:p>
            <a:pPr>
              <a:defRPr sz="800">
                <a:solidFill>
                  <a:srgbClr val="64748B"/>
                </a:solidFill>
              </a:defRPr>
            </a:pPr>
            <a:r>
              <a:t>45.6% of national remote drops</a:t>
            </a:r>
          </a:p>
        </p:txBody>
      </p:sp>
      <p:sp>
        <p:nvSpPr>
          <p:cNvPr id="11" name="Rounded Rectangle 10"/>
          <p:cNvSpPr/>
          <p:nvPr/>
        </p:nvSpPr>
        <p:spPr>
          <a:xfrm>
            <a:off x="411480" y="228600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359152"/>
            <a:ext cx="3712464" cy="722376"/>
          </a:xfrm>
          <a:prstGeom prst="rect">
            <a:avLst/>
          </a:prstGeom>
          <a:noFill/>
        </p:spPr>
        <p:txBody>
          <a:bodyPr wrap="square" lIns="0" tIns="0" rIns="0" bIns="0">
            <a:spAutoFit/>
          </a:bodyPr>
          <a:lstStyle/>
          <a:p>
            <a:pPr>
              <a:spcAft>
                <a:spcPts val="200"/>
              </a:spcAft>
              <a:defRPr sz="1700" b="1">
                <a:solidFill>
                  <a:srgbClr val="D97706"/>
                </a:solidFill>
              </a:defRPr>
            </a:pPr>
            <a:r>
              <a:t>78.0 km Extreme Haul</a:t>
            </a:r>
          </a:p>
          <a:p>
            <a:pPr>
              <a:defRPr sz="900" b="1">
                <a:solidFill>
                  <a:srgbClr val="111827"/>
                </a:solidFill>
              </a:defRPr>
            </a:pPr>
            <a:r>
              <a:t>Ha Hai Distributor to Dong Hung</a:t>
            </a:r>
          </a:p>
          <a:p>
            <a:pPr>
              <a:defRPr sz="800">
                <a:solidFill>
                  <a:srgbClr val="64748B"/>
                </a:solidFill>
              </a:defRPr>
            </a:pPr>
            <a:r>
              <a:t>Severe cold-chain thawing risk</a:t>
            </a:r>
          </a:p>
        </p:txBody>
      </p:sp>
      <p:sp>
        <p:nvSpPr>
          <p:cNvPr id="13" name="Rounded Rectangle 12"/>
          <p:cNvSpPr/>
          <p:nvPr/>
        </p:nvSpPr>
        <p:spPr>
          <a:xfrm>
            <a:off x="411480" y="3246120"/>
            <a:ext cx="393192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10128"/>
            <a:ext cx="3749039" cy="1645920"/>
          </a:xfrm>
          <a:prstGeom prst="rect">
            <a:avLst/>
          </a:prstGeom>
          <a:noFill/>
        </p:spPr>
        <p:txBody>
          <a:bodyPr wrap="square" lIns="0" tIns="0" rIns="0" bIns="0">
            <a:spAutoFit/>
          </a:bodyPr>
          <a:lstStyle/>
          <a:p>
            <a:pPr>
              <a:spcAft>
                <a:spcPts val="400"/>
              </a:spcAft>
              <a:defRPr sz="819">
                <a:solidFill>
                  <a:srgbClr val="111827"/>
                </a:solidFill>
              </a:defRPr>
            </a:pPr>
            <a:r>
              <a:t>Critical White Space Voids: Hundreds of high-volume retail stores in Luc Ngan, Quynh Luu, and Tien Hai lack direct DSR coverage, leaving frozen retail display space to regional competitors.</a:t>
            </a:r>
          </a:p>
          <a:p>
            <a:pPr>
              <a:defRPr sz="819">
                <a:solidFill>
                  <a:srgbClr val="111827"/>
                </a:solidFill>
              </a:defRPr>
            </a:pPr>
            <a:r>
              <a:t>Severe Logistics Margin Erosion: LTL delivery routes exceeding 60 to 80km consume 18% distributor gross margin while introducing severe cold-chain thawing risks for Mandu and Spring Rolls.</a:t>
            </a:r>
          </a:p>
        </p:txBody>
      </p:sp>
      <p:sp>
        <p:nvSpPr>
          <p:cNvPr id="15" name="Rounded Rectangle 14"/>
          <p:cNvSpPr/>
          <p:nvPr/>
        </p:nvSpPr>
        <p:spPr>
          <a:xfrm>
            <a:off x="411480" y="5120640"/>
            <a:ext cx="3931920" cy="132588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991B1B"/>
                </a:solidFill>
              </a:defRPr>
            </a:pPr>
            <a:r>
              <a:t>REGIONAL STRATEGIC MANDATE:</a:t>
            </a:r>
          </a:p>
          <a:p>
            <a:pPr>
              <a:defRPr sz="800">
                <a:solidFill>
                  <a:srgbClr val="111827"/>
                </a:solidFill>
              </a:defRPr>
            </a:pPr>
            <a:r>
              <a:t>Capture 556 Golden Outlets across remote white space districts via 3 C1 Partners while eliminating 67% of delivery runs exceeding 45km.</a:t>
            </a:r>
          </a:p>
        </p:txBody>
      </p:sp>
      <p:sp>
        <p:nvSpPr>
          <p:cNvPr id="16" name="TextBox 15"/>
          <p:cNvSpPr txBox="1"/>
          <p:nvPr/>
        </p:nvSpPr>
        <p:spPr>
          <a:xfrm>
            <a:off x="4480560" y="1051560"/>
            <a:ext cx="7296912" cy="228600"/>
          </a:xfrm>
          <a:prstGeom prst="rect">
            <a:avLst/>
          </a:prstGeom>
          <a:noFill/>
        </p:spPr>
        <p:txBody>
          <a:bodyPr wrap="none">
            <a:spAutoFit/>
          </a:bodyPr>
          <a:lstStyle/>
          <a:p>
            <a:pPr>
              <a:defRPr sz="950" b="1">
                <a:solidFill>
                  <a:srgbClr val="64748B"/>
                </a:solidFill>
              </a:defRPr>
            </a:pPr>
            <a:r>
              <a:t>2. PROPOSED C1 PARTNERS: CAPTURING WHITE SPACES &amp; CUTTING REMOTE LOGISTICS</a:t>
            </a:r>
          </a:p>
        </p:txBody>
      </p:sp>
      <p:sp>
        <p:nvSpPr>
          <p:cNvPr id="17" name="Rounded Rectangle 16"/>
          <p:cNvSpPr/>
          <p:nvPr/>
        </p:nvSpPr>
        <p:spPr>
          <a:xfrm>
            <a:off x="4480560" y="128016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1280160"/>
            <a:ext cx="54864" cy="9022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17720" y="1353312"/>
            <a:ext cx="1691640" cy="18288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91B1B"/>
                </a:solidFill>
              </a:defRPr>
            </a:pPr>
            <a:r>
              <a:t>Mountainous White Space</a:t>
            </a:r>
          </a:p>
        </p:txBody>
      </p:sp>
      <p:sp>
        <p:nvSpPr>
          <p:cNvPr id="20" name="TextBox 19"/>
          <p:cNvSpPr txBox="1"/>
          <p:nvPr/>
        </p:nvSpPr>
        <p:spPr>
          <a:xfrm>
            <a:off x="4617720" y="1554480"/>
            <a:ext cx="1828800" cy="582168"/>
          </a:xfrm>
          <a:prstGeom prst="rect">
            <a:avLst/>
          </a:prstGeom>
          <a:noFill/>
        </p:spPr>
        <p:txBody>
          <a:bodyPr wrap="square" lIns="0" tIns="0" rIns="0" bIns="0">
            <a:spAutoFit/>
          </a:bodyPr>
          <a:lstStyle/>
          <a:p>
            <a:pPr>
              <a:defRPr sz="1000" b="1">
                <a:solidFill>
                  <a:srgbClr val="111827"/>
                </a:solidFill>
              </a:defRPr>
            </a:pPr>
            <a:r>
              <a:t>C1 LUC NGAN</a:t>
            </a:r>
          </a:p>
          <a:p>
            <a:pPr>
              <a:defRPr sz="800">
                <a:solidFill>
                  <a:srgbClr val="64748B"/>
                </a:solidFill>
              </a:defRPr>
            </a:pPr>
            <a:r>
              <a:t>Luc Ngan &amp; Chu Town</a:t>
            </a:r>
          </a:p>
        </p:txBody>
      </p:sp>
      <p:sp>
        <p:nvSpPr>
          <p:cNvPr id="21" name="TextBox 20"/>
          <p:cNvSpPr txBox="1"/>
          <p:nvPr/>
        </p:nvSpPr>
        <p:spPr>
          <a:xfrm>
            <a:off x="6492240" y="1353312"/>
            <a:ext cx="3383280" cy="755904"/>
          </a:xfrm>
          <a:prstGeom prst="rect">
            <a:avLst/>
          </a:prstGeom>
          <a:noFill/>
        </p:spPr>
        <p:txBody>
          <a:bodyPr wrap="square" lIns="0" tIns="0" rIns="0" bIns="0">
            <a:spAutoFit/>
          </a:bodyPr>
          <a:lstStyle/>
          <a:p>
            <a:pPr>
              <a:defRPr sz="819">
                <a:solidFill>
                  <a:srgbClr val="111827"/>
                </a:solidFill>
              </a:defRPr>
            </a:pPr>
            <a:r>
              <a:t>C1 utilizes existing light wholesale truck fleet to secure indirect reach across 78 Golden Outlets, eliminating 62km delivery haul from Bac Giang City.</a:t>
            </a:r>
          </a:p>
        </p:txBody>
      </p:sp>
      <p:sp>
        <p:nvSpPr>
          <p:cNvPr id="22" name="Rounded Rectangle 21"/>
          <p:cNvSpPr/>
          <p:nvPr/>
        </p:nvSpPr>
        <p:spPr>
          <a:xfrm>
            <a:off x="10085832" y="1389888"/>
            <a:ext cx="1600200" cy="6827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91B1B"/>
                </a:solidFill>
              </a:defRPr>
            </a:pPr>
            <a:r>
              <a:t>-62 km</a:t>
            </a:r>
          </a:p>
          <a:p>
            <a:pPr algn="ctr">
              <a:defRPr sz="750">
                <a:solidFill>
                  <a:srgbClr val="64748B"/>
                </a:solidFill>
              </a:defRPr>
            </a:pPr>
            <a:r>
              <a:t>Indirect Reach</a:t>
            </a:r>
          </a:p>
          <a:p>
            <a:pPr algn="ctr">
              <a:defRPr sz="800" b="1">
                <a:solidFill>
                  <a:srgbClr val="991B1B"/>
                </a:solidFill>
              </a:defRPr>
            </a:pPr>
            <a:r>
              <a:t>78 Golden Outlets</a:t>
            </a:r>
          </a:p>
        </p:txBody>
      </p:sp>
      <p:sp>
        <p:nvSpPr>
          <p:cNvPr id="23" name="Rounded Rectangle 22"/>
          <p:cNvSpPr/>
          <p:nvPr/>
        </p:nvSpPr>
        <p:spPr>
          <a:xfrm>
            <a:off x="4480560" y="225552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2255520"/>
            <a:ext cx="54864" cy="9022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17720" y="2328672"/>
            <a:ext cx="1691640" cy="18288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2400E"/>
                </a:solidFill>
              </a:defRPr>
            </a:pPr>
            <a:r>
              <a:t>Coastal White Space</a:t>
            </a:r>
          </a:p>
        </p:txBody>
      </p:sp>
      <p:sp>
        <p:nvSpPr>
          <p:cNvPr id="26" name="TextBox 25"/>
          <p:cNvSpPr txBox="1"/>
          <p:nvPr/>
        </p:nvSpPr>
        <p:spPr>
          <a:xfrm>
            <a:off x="4617720" y="2529840"/>
            <a:ext cx="1828800" cy="582168"/>
          </a:xfrm>
          <a:prstGeom prst="rect">
            <a:avLst/>
          </a:prstGeom>
          <a:noFill/>
        </p:spPr>
        <p:txBody>
          <a:bodyPr wrap="square" lIns="0" tIns="0" rIns="0" bIns="0">
            <a:spAutoFit/>
          </a:bodyPr>
          <a:lstStyle/>
          <a:p>
            <a:pPr>
              <a:defRPr sz="1000" b="1">
                <a:solidFill>
                  <a:srgbClr val="111827"/>
                </a:solidFill>
              </a:defRPr>
            </a:pPr>
            <a:r>
              <a:t>C1 DIEN CHAU</a:t>
            </a:r>
          </a:p>
          <a:p>
            <a:pPr>
              <a:defRPr sz="800">
                <a:solidFill>
                  <a:srgbClr val="64748B"/>
                </a:solidFill>
              </a:defRPr>
            </a:pPr>
            <a:r>
              <a:t>Yen Ly Wholesale Partner</a:t>
            </a:r>
          </a:p>
        </p:txBody>
      </p:sp>
      <p:sp>
        <p:nvSpPr>
          <p:cNvPr id="27" name="TextBox 26"/>
          <p:cNvSpPr txBox="1"/>
          <p:nvPr/>
        </p:nvSpPr>
        <p:spPr>
          <a:xfrm>
            <a:off x="6492240" y="2328672"/>
            <a:ext cx="3383280" cy="755904"/>
          </a:xfrm>
          <a:prstGeom prst="rect">
            <a:avLst/>
          </a:prstGeom>
          <a:noFill/>
        </p:spPr>
        <p:txBody>
          <a:bodyPr wrap="square" lIns="0" tIns="0" rIns="0" bIns="0">
            <a:spAutoFit/>
          </a:bodyPr>
          <a:lstStyle/>
          <a:p>
            <a:pPr>
              <a:defRPr sz="819">
                <a:solidFill>
                  <a:srgbClr val="111827"/>
                </a:solidFill>
              </a:defRPr>
            </a:pPr>
            <a:r>
              <a:t>Wholesale crossroad partner distributes to 35 coastal Golden Outlets in Quynh Luu, relieving 55km haul from Hung Nguyen distributor.</a:t>
            </a:r>
          </a:p>
        </p:txBody>
      </p:sp>
      <p:sp>
        <p:nvSpPr>
          <p:cNvPr id="28" name="Rounded Rectangle 27"/>
          <p:cNvSpPr/>
          <p:nvPr/>
        </p:nvSpPr>
        <p:spPr>
          <a:xfrm>
            <a:off x="10085832" y="2365248"/>
            <a:ext cx="1600200" cy="682752"/>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2400E"/>
                </a:solidFill>
              </a:defRPr>
            </a:pPr>
            <a:r>
              <a:t>-55 km</a:t>
            </a:r>
          </a:p>
          <a:p>
            <a:pPr algn="ctr">
              <a:defRPr sz="750">
                <a:solidFill>
                  <a:srgbClr val="64748B"/>
                </a:solidFill>
              </a:defRPr>
            </a:pPr>
            <a:r>
              <a:t>Indirect Reach</a:t>
            </a:r>
          </a:p>
          <a:p>
            <a:pPr algn="ctr">
              <a:defRPr sz="800" b="1">
                <a:solidFill>
                  <a:srgbClr val="92400E"/>
                </a:solidFill>
              </a:defRPr>
            </a:pPr>
            <a:r>
              <a:t>35 Golden Outlets</a:t>
            </a:r>
          </a:p>
        </p:txBody>
      </p:sp>
      <p:sp>
        <p:nvSpPr>
          <p:cNvPr id="29" name="Rounded Rectangle 28"/>
          <p:cNvSpPr/>
          <p:nvPr/>
        </p:nvSpPr>
        <p:spPr>
          <a:xfrm>
            <a:off x="4480560" y="323088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80560" y="3230880"/>
            <a:ext cx="54864" cy="9022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17720" y="3304032"/>
            <a:ext cx="1691640" cy="18288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15803D"/>
                </a:solidFill>
              </a:defRPr>
            </a:pPr>
            <a:r>
              <a:t>Coastal White Space</a:t>
            </a:r>
          </a:p>
        </p:txBody>
      </p:sp>
      <p:sp>
        <p:nvSpPr>
          <p:cNvPr id="32" name="TextBox 31"/>
          <p:cNvSpPr txBox="1"/>
          <p:nvPr/>
        </p:nvSpPr>
        <p:spPr>
          <a:xfrm>
            <a:off x="4617720" y="3505200"/>
            <a:ext cx="1828800" cy="582168"/>
          </a:xfrm>
          <a:prstGeom prst="rect">
            <a:avLst/>
          </a:prstGeom>
          <a:noFill/>
        </p:spPr>
        <p:txBody>
          <a:bodyPr wrap="square" lIns="0" tIns="0" rIns="0" bIns="0">
            <a:spAutoFit/>
          </a:bodyPr>
          <a:lstStyle/>
          <a:p>
            <a:pPr>
              <a:defRPr sz="1000" b="1">
                <a:solidFill>
                  <a:srgbClr val="111827"/>
                </a:solidFill>
              </a:defRPr>
            </a:pPr>
            <a:r>
              <a:t>C1 THAI BINH &amp; NAM DINH</a:t>
            </a:r>
          </a:p>
          <a:p>
            <a:pPr>
              <a:defRPr sz="800">
                <a:solidFill>
                  <a:srgbClr val="64748B"/>
                </a:solidFill>
              </a:defRPr>
            </a:pPr>
            <a:r>
              <a:t>Direct Coastal Depot</a:t>
            </a:r>
          </a:p>
        </p:txBody>
      </p:sp>
      <p:sp>
        <p:nvSpPr>
          <p:cNvPr id="33" name="TextBox 32"/>
          <p:cNvSpPr txBox="1"/>
          <p:nvPr/>
        </p:nvSpPr>
        <p:spPr>
          <a:xfrm>
            <a:off x="6492240" y="3304032"/>
            <a:ext cx="3383280" cy="755904"/>
          </a:xfrm>
          <a:prstGeom prst="rect">
            <a:avLst/>
          </a:prstGeom>
          <a:noFill/>
        </p:spPr>
        <p:txBody>
          <a:bodyPr wrap="square" lIns="0" tIns="0" rIns="0" bIns="0">
            <a:spAutoFit/>
          </a:bodyPr>
          <a:lstStyle/>
          <a:p>
            <a:pPr>
              <a:defRPr sz="819">
                <a:solidFill>
                  <a:srgbClr val="111827"/>
                </a:solidFill>
              </a:defRPr>
            </a:pPr>
            <a:r>
              <a:t>Activate cold storage in Thai Binh City. Eliminates 78km delivery haul from Ha Hai and establishes indirect reach across 443 coastal Golden Outlets.</a:t>
            </a:r>
          </a:p>
        </p:txBody>
      </p:sp>
      <p:sp>
        <p:nvSpPr>
          <p:cNvPr id="34" name="Rounded Rectangle 33"/>
          <p:cNvSpPr/>
          <p:nvPr/>
        </p:nvSpPr>
        <p:spPr>
          <a:xfrm>
            <a:off x="10085832" y="3340608"/>
            <a:ext cx="1600200" cy="682752"/>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15803D"/>
                </a:solidFill>
              </a:defRPr>
            </a:pPr>
            <a:r>
              <a:t>-62 km</a:t>
            </a:r>
          </a:p>
          <a:p>
            <a:pPr algn="ctr">
              <a:defRPr sz="750">
                <a:solidFill>
                  <a:srgbClr val="64748B"/>
                </a:solidFill>
              </a:defRPr>
            </a:pPr>
            <a:r>
              <a:t>Indirect Reach</a:t>
            </a:r>
          </a:p>
          <a:p>
            <a:pPr algn="ctr">
              <a:defRPr sz="800" b="1">
                <a:solidFill>
                  <a:srgbClr val="15803D"/>
                </a:solidFill>
              </a:defRPr>
            </a:pPr>
            <a:r>
              <a:t>443 Golden Outlets</a:t>
            </a:r>
          </a:p>
        </p:txBody>
      </p:sp>
      <p:sp>
        <p:nvSpPr>
          <p:cNvPr id="35" name="Rounded Rectangle 34"/>
          <p:cNvSpPr/>
          <p:nvPr/>
        </p:nvSpPr>
        <p:spPr>
          <a:xfrm>
            <a:off x="4480560" y="4279392"/>
            <a:ext cx="7296912" cy="658368"/>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15803D"/>
                </a:solidFill>
              </a:defRPr>
            </a:pPr>
            <a:r>
              <a:t>FIELD GOVERNANCE &amp; SUPERVISION REBALANCING:</a:t>
            </a:r>
          </a:p>
          <a:p>
            <a:pPr>
              <a:defRPr sz="800">
                <a:solidFill>
                  <a:srgbClr val="111827"/>
                </a:solidFill>
              </a:defRPr>
            </a:pPr>
            <a:r>
              <a:t>Assign 2 Field Sales Managers to monitor C1 cold-chain rotation, prevent cross-border discounting, and enforce DMS compliance.</a:t>
            </a:r>
          </a:p>
        </p:txBody>
      </p:sp>
      <p:sp>
        <p:nvSpPr>
          <p:cNvPr id="36" name="TextBox 35"/>
          <p:cNvSpPr txBox="1"/>
          <p:nvPr/>
        </p:nvSpPr>
        <p:spPr>
          <a:xfrm>
            <a:off x="4480560" y="5029200"/>
            <a:ext cx="7296912" cy="182880"/>
          </a:xfrm>
          <a:prstGeom prst="rect">
            <a:avLst/>
          </a:prstGeom>
          <a:noFill/>
        </p:spPr>
        <p:txBody>
          <a:bodyPr wrap="none">
            <a:spAutoFit/>
          </a:bodyPr>
          <a:lstStyle/>
          <a:p>
            <a:pPr>
              <a:defRPr sz="850" b="1">
                <a:solidFill>
                  <a:srgbClr val="64748B"/>
                </a:solidFill>
              </a:defRPr>
            </a:pPr>
            <a:r>
              <a:t>EXECUTION ARCHITECTURE • 4 REGIONAL IMPLEMENTATION STEPS</a:t>
            </a:r>
          </a:p>
        </p:txBody>
      </p:sp>
      <p:sp>
        <p:nvSpPr>
          <p:cNvPr id="37" name="Rounded Rectangle 36"/>
          <p:cNvSpPr/>
          <p:nvPr/>
        </p:nvSpPr>
        <p:spPr>
          <a:xfrm>
            <a:off x="4480560"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53712"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1. Network Setup</a:t>
            </a:r>
          </a:p>
          <a:p>
            <a:pPr>
              <a:defRPr sz="800">
                <a:solidFill>
                  <a:srgbClr val="64748B"/>
                </a:solidFill>
              </a:defRPr>
            </a:pPr>
            <a:r>
              <a:t>Contract wholesale C1 partners in Luc Ngan &amp; Dien Chau; activate cold warehouse in Thai Binh.</a:t>
            </a:r>
          </a:p>
        </p:txBody>
      </p:sp>
      <p:sp>
        <p:nvSpPr>
          <p:cNvPr id="39" name="Rounded Rectangle 38"/>
          <p:cNvSpPr/>
          <p:nvPr/>
        </p:nvSpPr>
        <p:spPr>
          <a:xfrm>
            <a:off x="6327648"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2. Logistics Delivery</a:t>
            </a:r>
          </a:p>
          <a:p>
            <a:pPr>
              <a:defRPr sz="800">
                <a:solidFill>
                  <a:srgbClr val="64748B"/>
                </a:solidFill>
              </a:defRPr>
            </a:pPr>
            <a:r>
              <a:t>Deliver weekly 8-ton refrigerated FCL shipments to 3 C1s; C1s distribute locally.</a:t>
            </a:r>
          </a:p>
        </p:txBody>
      </p:sp>
      <p:sp>
        <p:nvSpPr>
          <p:cNvPr id="41" name="Rounded Rectangle 40"/>
          <p:cNvSpPr/>
          <p:nvPr/>
        </p:nvSpPr>
        <p:spPr>
          <a:xfrm>
            <a:off x="8174736"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7888"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3. Field Supervision</a:t>
            </a:r>
          </a:p>
          <a:p>
            <a:pPr>
              <a:defRPr sz="800">
                <a:solidFill>
                  <a:srgbClr val="64748B"/>
                </a:solidFill>
              </a:defRPr>
            </a:pPr>
            <a:r>
              <a:t>Assign 2 Field Sales Managers to oversee inventory rotation and prevent territory leakage into Hanoi.</a:t>
            </a:r>
          </a:p>
        </p:txBody>
      </p:sp>
      <p:sp>
        <p:nvSpPr>
          <p:cNvPr id="43" name="Rounded Rectangle 42"/>
          <p:cNvSpPr/>
          <p:nvPr/>
        </p:nvSpPr>
        <p:spPr>
          <a:xfrm>
            <a:off x="10021824"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94976"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4. Trade &amp; Cold Sync</a:t>
            </a:r>
          </a:p>
          <a:p>
            <a:pPr>
              <a:defRPr sz="800">
                <a:solidFill>
                  <a:srgbClr val="64748B"/>
                </a:solidFill>
              </a:defRPr>
            </a:pPr>
            <a:r>
              <a:t>Equip C1 Thai Binh with cold storage; prioritize trade freezers for top 200 converted Golden Outlets.</a:t>
            </a:r>
          </a:p>
        </p:txBody>
      </p:sp>
      <p:sp>
        <p:nvSpPr>
          <p:cNvPr id="45" name="TextBox 44"/>
          <p:cNvSpPr txBox="1"/>
          <p:nvPr/>
        </p:nvSpPr>
        <p:spPr>
          <a:xfrm>
            <a:off x="411480" y="6565392"/>
            <a:ext cx="11365992" cy="201168"/>
          </a:xfrm>
          <a:prstGeom prst="rect">
            <a:avLst/>
          </a:prstGeom>
          <a:noFill/>
        </p:spPr>
        <p:txBody>
          <a:bodyPr wrap="none" lIns="0" tIns="0" rIns="0" bIns="0">
            <a:spAutoFit/>
          </a:bodyPr>
          <a:lstStyle/>
          <a:p>
            <a:pPr>
              <a:defRPr sz="850">
                <a:solidFill>
                  <a:srgbClr val="94A3B8"/>
                </a:solidFill>
              </a:defRPr>
            </a:pPr>
            <a:r>
              <a:t>* Hai Phong RTM plan lowers average drop distance from 21.3km to 13.5km, saving ~3.8B in annual logistics costs.   •   Confidential • CJ Foods Vietnam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9326880" cy="502920"/>
          </a:xfrm>
          <a:prstGeom prst="rect">
            <a:avLst/>
          </a:prstGeom>
          <a:noFill/>
        </p:spPr>
        <p:txBody>
          <a:bodyPr wrap="square" lIns="0" tIns="0" rIns="0" bIns="0">
            <a:spAutoFit/>
          </a:bodyPr>
          <a:lstStyle/>
          <a:p>
            <a:pPr>
              <a:defRPr sz="2000" b="1">
                <a:solidFill>
                  <a:srgbClr val="111827"/>
                </a:solidFill>
              </a:defRPr>
            </a:pPr>
            <a:r>
              <a:t>Mekong Region 2027: 4 C1s &amp; Sales Management Deployment to Expand Coverage</a:t>
            </a:r>
          </a:p>
        </p:txBody>
      </p:sp>
      <p:sp>
        <p:nvSpPr>
          <p:cNvPr id="4" name="Rounded Rectangle 3"/>
          <p:cNvSpPr/>
          <p:nvPr/>
        </p:nvSpPr>
        <p:spPr>
          <a:xfrm>
            <a:off x="9601200" y="256032"/>
            <a:ext cx="2194560" cy="29260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75985"/>
                </a:solidFill>
              </a:defRPr>
            </a:pPr>
            <a:r>
              <a:t>REGION: CAN THO &amp; MEKONG</a:t>
            </a:r>
          </a:p>
        </p:txBody>
      </p:sp>
      <p:sp>
        <p:nvSpPr>
          <p:cNvPr id="5" name="TextBox 4"/>
          <p:cNvSpPr txBox="1"/>
          <p:nvPr/>
        </p:nvSpPr>
        <p:spPr>
          <a:xfrm>
            <a:off x="411480" y="749808"/>
            <a:ext cx="11338560" cy="228600"/>
          </a:xfrm>
          <a:prstGeom prst="rect">
            <a:avLst/>
          </a:prstGeom>
          <a:noFill/>
        </p:spPr>
        <p:txBody>
          <a:bodyPr wrap="none" lIns="0" tIns="0" rIns="0" bIns="0">
            <a:spAutoFit/>
          </a:bodyPr>
          <a:lstStyle/>
          <a:p>
            <a:pPr>
              <a:defRPr sz="919" b="1">
                <a:solidFill>
                  <a:srgbClr val="64748B"/>
                </a:solidFill>
              </a:defRPr>
            </a:pPr>
            <a:r>
              <a:t>REGIONAL RTM BLUEPRINT • 26 ACTIVE DISTRIBUTORS • OVERCOMING WATERWAY ROUTING &amp; FILLING WHITE SPACES</a:t>
            </a:r>
          </a:p>
        </p:txBody>
      </p:sp>
      <p:sp>
        <p:nvSpPr>
          <p:cNvPr id="6" name="TextBox 5"/>
          <p:cNvSpPr txBox="1"/>
          <p:nvPr/>
        </p:nvSpPr>
        <p:spPr>
          <a:xfrm>
            <a:off x="411480" y="1051560"/>
            <a:ext cx="3931920" cy="228600"/>
          </a:xfrm>
          <a:prstGeom prst="rect">
            <a:avLst/>
          </a:prstGeom>
          <a:noFill/>
        </p:spPr>
        <p:txBody>
          <a:bodyPr wrap="none">
            <a:spAutoFit/>
          </a:bodyPr>
          <a:lstStyle/>
          <a:p>
            <a:pPr>
              <a:defRPr sz="950" b="1">
                <a:solidFill>
                  <a:srgbClr val="64748B"/>
                </a:solidFill>
              </a:defRPr>
            </a:pPr>
            <a:r>
              <a:t>1. CURRENT RTM DIAGNOSTIC &amp; WHITE SPACE VOIDS</a:t>
            </a:r>
          </a:p>
        </p:txBody>
      </p:sp>
      <p:sp>
        <p:nvSpPr>
          <p:cNvPr id="7" name="Rounded Rectangle 6"/>
          <p:cNvSpPr/>
          <p:nvPr/>
        </p:nvSpPr>
        <p:spPr>
          <a:xfrm>
            <a:off x="411480" y="1280160"/>
            <a:ext cx="1874519"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53312"/>
            <a:ext cx="1655063" cy="768096"/>
          </a:xfrm>
          <a:prstGeom prst="rect">
            <a:avLst/>
          </a:prstGeom>
          <a:noFill/>
        </p:spPr>
        <p:txBody>
          <a:bodyPr wrap="square" lIns="0" tIns="0" rIns="0" bIns="0">
            <a:spAutoFit/>
          </a:bodyPr>
          <a:lstStyle/>
          <a:p>
            <a:pPr>
              <a:spcAft>
                <a:spcPts val="200"/>
              </a:spcAft>
              <a:defRPr sz="1700" b="1">
                <a:solidFill>
                  <a:srgbClr val="DC2626"/>
                </a:solidFill>
              </a:defRPr>
            </a:pPr>
            <a:r>
              <a:t>19.4 km</a:t>
            </a:r>
          </a:p>
          <a:p>
            <a:pPr>
              <a:defRPr sz="900" b="1">
                <a:solidFill>
                  <a:srgbClr val="111827"/>
                </a:solidFill>
              </a:defRPr>
            </a:pPr>
            <a:r>
              <a:t>Avg Drop Distance</a:t>
            </a:r>
          </a:p>
          <a:p>
            <a:pPr>
              <a:defRPr sz="800">
                <a:solidFill>
                  <a:srgbClr val="64748B"/>
                </a:solidFill>
              </a:defRPr>
            </a:pPr>
            <a:r>
              <a:t>Second highest in VN</a:t>
            </a:r>
          </a:p>
        </p:txBody>
      </p:sp>
      <p:sp>
        <p:nvSpPr>
          <p:cNvPr id="9" name="Rounded Rectangle 8"/>
          <p:cNvSpPr/>
          <p:nvPr/>
        </p:nvSpPr>
        <p:spPr>
          <a:xfrm>
            <a:off x="2377440" y="1280160"/>
            <a:ext cx="196596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7168" y="1353312"/>
            <a:ext cx="1746504" cy="768096"/>
          </a:xfrm>
          <a:prstGeom prst="rect">
            <a:avLst/>
          </a:prstGeom>
          <a:noFill/>
        </p:spPr>
        <p:txBody>
          <a:bodyPr wrap="square" lIns="0" tIns="0" rIns="0" bIns="0">
            <a:spAutoFit/>
          </a:bodyPr>
          <a:lstStyle/>
          <a:p>
            <a:pPr>
              <a:spcAft>
                <a:spcPts val="200"/>
              </a:spcAft>
              <a:defRPr sz="1700" b="1">
                <a:solidFill>
                  <a:srgbClr val="DC2626"/>
                </a:solidFill>
              </a:defRPr>
            </a:pPr>
            <a:r>
              <a:t>831</a:t>
            </a:r>
          </a:p>
          <a:p>
            <a:pPr>
              <a:defRPr sz="900" b="1">
                <a:solidFill>
                  <a:srgbClr val="111827"/>
                </a:solidFill>
              </a:defRPr>
            </a:pPr>
            <a:r>
              <a:t>Drops &gt;45km</a:t>
            </a:r>
          </a:p>
          <a:p>
            <a:pPr>
              <a:defRPr sz="800">
                <a:solidFill>
                  <a:srgbClr val="64748B"/>
                </a:solidFill>
              </a:defRPr>
            </a:pPr>
            <a:r>
              <a:t>33.9% of national remote drops</a:t>
            </a:r>
          </a:p>
        </p:txBody>
      </p:sp>
      <p:sp>
        <p:nvSpPr>
          <p:cNvPr id="11" name="Rounded Rectangle 10"/>
          <p:cNvSpPr/>
          <p:nvPr/>
        </p:nvSpPr>
        <p:spPr>
          <a:xfrm>
            <a:off x="411480" y="228600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359152"/>
            <a:ext cx="3712464" cy="722376"/>
          </a:xfrm>
          <a:prstGeom prst="rect">
            <a:avLst/>
          </a:prstGeom>
          <a:noFill/>
        </p:spPr>
        <p:txBody>
          <a:bodyPr wrap="square" lIns="0" tIns="0" rIns="0" bIns="0">
            <a:spAutoFit/>
          </a:bodyPr>
          <a:lstStyle/>
          <a:p>
            <a:pPr>
              <a:spcAft>
                <a:spcPts val="200"/>
              </a:spcAft>
              <a:defRPr sz="1700" b="1">
                <a:solidFill>
                  <a:srgbClr val="D97706"/>
                </a:solidFill>
              </a:defRPr>
            </a:pPr>
            <a:r>
              <a:t>70.6 km Extreme Haul</a:t>
            </a:r>
          </a:p>
          <a:p>
            <a:pPr>
              <a:defRPr sz="900" b="1">
                <a:solidFill>
                  <a:srgbClr val="111827"/>
                </a:solidFill>
              </a:defRPr>
            </a:pPr>
            <a:r>
              <a:t>Cai Nuoc to Dam Doi, Ca Mau</a:t>
            </a:r>
          </a:p>
          <a:p>
            <a:pPr>
              <a:defRPr sz="800">
                <a:solidFill>
                  <a:srgbClr val="64748B"/>
                </a:solidFill>
              </a:defRPr>
            </a:pPr>
            <a:r>
              <a:t>Excessive single-drop delivery run</a:t>
            </a:r>
          </a:p>
        </p:txBody>
      </p:sp>
      <p:sp>
        <p:nvSpPr>
          <p:cNvPr id="13" name="Rounded Rectangle 12"/>
          <p:cNvSpPr/>
          <p:nvPr/>
        </p:nvSpPr>
        <p:spPr>
          <a:xfrm>
            <a:off x="411480" y="3246120"/>
            <a:ext cx="393192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10128"/>
            <a:ext cx="3749039" cy="1645920"/>
          </a:xfrm>
          <a:prstGeom prst="rect">
            <a:avLst/>
          </a:prstGeom>
          <a:noFill/>
        </p:spPr>
        <p:txBody>
          <a:bodyPr wrap="square" lIns="0" tIns="0" rIns="0" bIns="0">
            <a:spAutoFit/>
          </a:bodyPr>
          <a:lstStyle/>
          <a:p>
            <a:pPr>
              <a:spcAft>
                <a:spcPts val="400"/>
              </a:spcAft>
              <a:defRPr sz="819">
                <a:solidFill>
                  <a:srgbClr val="111827"/>
                </a:solidFill>
              </a:defRPr>
            </a:pPr>
            <a:r>
              <a:t>Island &amp; Canal Transit Friction: Segmented river geography forces long detour routes in Ben Tre and Ca Mau, causing delivery delays and high transport costs.</a:t>
            </a:r>
          </a:p>
          <a:p>
            <a:pPr>
              <a:defRPr sz="819">
                <a:solidFill>
                  <a:srgbClr val="111827"/>
                </a:solidFill>
              </a:defRPr>
            </a:pPr>
            <a:r>
              <a:t>Supervision Void: 8 of 26 active distributors lack dedicated Sales Managers. Key volume contributors Food House, Shiba, and Cuc Tuan operate unmonitored.</a:t>
            </a:r>
          </a:p>
        </p:txBody>
      </p:sp>
      <p:sp>
        <p:nvSpPr>
          <p:cNvPr id="15" name="Rounded Rectangle 14"/>
          <p:cNvSpPr/>
          <p:nvPr/>
        </p:nvSpPr>
        <p:spPr>
          <a:xfrm>
            <a:off x="411480" y="5120640"/>
            <a:ext cx="3931920" cy="132588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991B1B"/>
                </a:solidFill>
              </a:defRPr>
            </a:pPr>
            <a:r>
              <a:t>REGIONAL STRATEGIC MANDATE:</a:t>
            </a:r>
          </a:p>
          <a:p>
            <a:pPr>
              <a:defRPr sz="800">
                <a:solidFill>
                  <a:srgbClr val="111827"/>
                </a:solidFill>
              </a:defRPr>
            </a:pPr>
            <a:r>
              <a:t>Capture 360 Golden Outlets across 4 priority white space territories via C1s, lowering average delivery distance from 19.4km to 11.5km.</a:t>
            </a:r>
          </a:p>
        </p:txBody>
      </p:sp>
      <p:sp>
        <p:nvSpPr>
          <p:cNvPr id="16" name="TextBox 15"/>
          <p:cNvSpPr txBox="1"/>
          <p:nvPr/>
        </p:nvSpPr>
        <p:spPr>
          <a:xfrm>
            <a:off x="4480560" y="1051560"/>
            <a:ext cx="7296912" cy="228600"/>
          </a:xfrm>
          <a:prstGeom prst="rect">
            <a:avLst/>
          </a:prstGeom>
          <a:noFill/>
        </p:spPr>
        <p:txBody>
          <a:bodyPr wrap="none">
            <a:spAutoFit/>
          </a:bodyPr>
          <a:lstStyle/>
          <a:p>
            <a:pPr>
              <a:defRPr sz="950" b="1">
                <a:solidFill>
                  <a:srgbClr val="64748B"/>
                </a:solidFill>
              </a:defRPr>
            </a:pPr>
            <a:r>
              <a:t>2. PROPOSED C1 PARTNERS: CAPTURING WHITE SPACES &amp; CUTTING REMOTE LOGISTICS</a:t>
            </a:r>
          </a:p>
        </p:txBody>
      </p:sp>
      <p:sp>
        <p:nvSpPr>
          <p:cNvPr id="17" name="Rounded Rectangle 16"/>
          <p:cNvSpPr/>
          <p:nvPr/>
        </p:nvSpPr>
        <p:spPr>
          <a:xfrm>
            <a:off x="4480560" y="1280160"/>
            <a:ext cx="7296912"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1280160"/>
            <a:ext cx="54864" cy="65836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17720" y="1353312"/>
            <a:ext cx="1691640" cy="18288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91B1B"/>
                </a:solidFill>
              </a:defRPr>
            </a:pPr>
            <a:r>
              <a:t>Southernmost White Space</a:t>
            </a:r>
          </a:p>
        </p:txBody>
      </p:sp>
      <p:sp>
        <p:nvSpPr>
          <p:cNvPr id="20" name="TextBox 19"/>
          <p:cNvSpPr txBox="1"/>
          <p:nvPr/>
        </p:nvSpPr>
        <p:spPr>
          <a:xfrm>
            <a:off x="4617720" y="1554480"/>
            <a:ext cx="1828800" cy="338328"/>
          </a:xfrm>
          <a:prstGeom prst="rect">
            <a:avLst/>
          </a:prstGeom>
          <a:noFill/>
        </p:spPr>
        <p:txBody>
          <a:bodyPr wrap="square" lIns="0" tIns="0" rIns="0" bIns="0">
            <a:spAutoFit/>
          </a:bodyPr>
          <a:lstStyle/>
          <a:p>
            <a:pPr>
              <a:defRPr sz="1000" b="1">
                <a:solidFill>
                  <a:srgbClr val="111827"/>
                </a:solidFill>
              </a:defRPr>
            </a:pPr>
            <a:r>
              <a:t>C1 CA MAU CITY</a:t>
            </a:r>
          </a:p>
          <a:p>
            <a:pPr>
              <a:defRPr sz="800">
                <a:solidFill>
                  <a:srgbClr val="64748B"/>
                </a:solidFill>
              </a:defRPr>
            </a:pPr>
            <a:r>
              <a:t>Reactivate Dormant Distributor</a:t>
            </a:r>
          </a:p>
        </p:txBody>
      </p:sp>
      <p:sp>
        <p:nvSpPr>
          <p:cNvPr id="21" name="TextBox 20"/>
          <p:cNvSpPr txBox="1"/>
          <p:nvPr/>
        </p:nvSpPr>
        <p:spPr>
          <a:xfrm>
            <a:off x="6492240" y="1353312"/>
            <a:ext cx="3383280" cy="512064"/>
          </a:xfrm>
          <a:prstGeom prst="rect">
            <a:avLst/>
          </a:prstGeom>
          <a:noFill/>
        </p:spPr>
        <p:txBody>
          <a:bodyPr wrap="square" lIns="0" tIns="0" rIns="0" bIns="0">
            <a:spAutoFit/>
          </a:bodyPr>
          <a:lstStyle/>
          <a:p>
            <a:pPr>
              <a:defRPr sz="819">
                <a:solidFill>
                  <a:srgbClr val="111827"/>
                </a:solidFill>
              </a:defRPr>
            </a:pPr>
            <a:r>
              <a:t>Eliminates 70.6km haul from Cai Nuoc. Deploys local three-wheel fleet to secure indirect coverage across 120 Golden Outlets in Dam Doi and Ca Mau.</a:t>
            </a:r>
          </a:p>
        </p:txBody>
      </p:sp>
      <p:sp>
        <p:nvSpPr>
          <p:cNvPr id="22" name="Rounded Rectangle 21"/>
          <p:cNvSpPr/>
          <p:nvPr/>
        </p:nvSpPr>
        <p:spPr>
          <a:xfrm>
            <a:off x="10085832" y="1389888"/>
            <a:ext cx="1600200" cy="43891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91B1B"/>
                </a:solidFill>
              </a:defRPr>
            </a:pPr>
            <a:r>
              <a:t>-58 km</a:t>
            </a:r>
          </a:p>
          <a:p>
            <a:pPr algn="ctr">
              <a:defRPr sz="750">
                <a:solidFill>
                  <a:srgbClr val="64748B"/>
                </a:solidFill>
              </a:defRPr>
            </a:pPr>
            <a:r>
              <a:t>Indirect Reach</a:t>
            </a:r>
          </a:p>
          <a:p>
            <a:pPr algn="ctr">
              <a:defRPr sz="800" b="1">
                <a:solidFill>
                  <a:srgbClr val="991B1B"/>
                </a:solidFill>
              </a:defRPr>
            </a:pPr>
            <a:r>
              <a:t>120 Golden Outlets</a:t>
            </a:r>
          </a:p>
        </p:txBody>
      </p:sp>
      <p:sp>
        <p:nvSpPr>
          <p:cNvPr id="23" name="Rounded Rectangle 22"/>
          <p:cNvSpPr/>
          <p:nvPr/>
        </p:nvSpPr>
        <p:spPr>
          <a:xfrm>
            <a:off x="4480560" y="2011680"/>
            <a:ext cx="7296912"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2011680"/>
            <a:ext cx="54864" cy="65836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17720" y="2084832"/>
            <a:ext cx="1691640" cy="18288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2400E"/>
                </a:solidFill>
              </a:defRPr>
            </a:pPr>
            <a:r>
              <a:t>Highway 1A Corridor</a:t>
            </a:r>
          </a:p>
        </p:txBody>
      </p:sp>
      <p:sp>
        <p:nvSpPr>
          <p:cNvPr id="26" name="TextBox 25"/>
          <p:cNvSpPr txBox="1"/>
          <p:nvPr/>
        </p:nvSpPr>
        <p:spPr>
          <a:xfrm>
            <a:off x="4617720" y="2286000"/>
            <a:ext cx="1828800" cy="338328"/>
          </a:xfrm>
          <a:prstGeom prst="rect">
            <a:avLst/>
          </a:prstGeom>
          <a:noFill/>
        </p:spPr>
        <p:txBody>
          <a:bodyPr wrap="square" lIns="0" tIns="0" rIns="0" bIns="0">
            <a:spAutoFit/>
          </a:bodyPr>
          <a:lstStyle/>
          <a:p>
            <a:pPr>
              <a:defRPr sz="1000" b="1">
                <a:solidFill>
                  <a:srgbClr val="111827"/>
                </a:solidFill>
              </a:defRPr>
            </a:pPr>
            <a:r>
              <a:t>C1 GIA RAI</a:t>
            </a:r>
          </a:p>
          <a:p>
            <a:pPr>
              <a:defRPr sz="800">
                <a:solidFill>
                  <a:srgbClr val="64748B"/>
                </a:solidFill>
              </a:defRPr>
            </a:pPr>
            <a:r>
              <a:t>Bac Lieu / Ca Mau Border</a:t>
            </a:r>
          </a:p>
        </p:txBody>
      </p:sp>
      <p:sp>
        <p:nvSpPr>
          <p:cNvPr id="27" name="TextBox 26"/>
          <p:cNvSpPr txBox="1"/>
          <p:nvPr/>
        </p:nvSpPr>
        <p:spPr>
          <a:xfrm>
            <a:off x="6492240" y="2084832"/>
            <a:ext cx="3383280" cy="512064"/>
          </a:xfrm>
          <a:prstGeom prst="rect">
            <a:avLst/>
          </a:prstGeom>
          <a:noFill/>
        </p:spPr>
        <p:txBody>
          <a:bodyPr wrap="square" lIns="0" tIns="0" rIns="0" bIns="0">
            <a:spAutoFit/>
          </a:bodyPr>
          <a:lstStyle/>
          <a:p>
            <a:pPr>
              <a:defRPr sz="819">
                <a:solidFill>
                  <a:srgbClr val="111827"/>
                </a:solidFill>
              </a:defRPr>
            </a:pPr>
            <a:r>
              <a:t>Establishes wholesale distribution partner at Gia Rai along Highway 1A corridor, capturing 85 Golden Outlets between Bac Lieu and Ca Mau.</a:t>
            </a:r>
          </a:p>
        </p:txBody>
      </p:sp>
      <p:sp>
        <p:nvSpPr>
          <p:cNvPr id="28" name="Rounded Rectangle 27"/>
          <p:cNvSpPr/>
          <p:nvPr/>
        </p:nvSpPr>
        <p:spPr>
          <a:xfrm>
            <a:off x="10085832" y="2121408"/>
            <a:ext cx="1600200" cy="438912"/>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2400E"/>
                </a:solidFill>
              </a:defRPr>
            </a:pPr>
            <a:r>
              <a:t>-42 km</a:t>
            </a:r>
          </a:p>
          <a:p>
            <a:pPr algn="ctr">
              <a:defRPr sz="750">
                <a:solidFill>
                  <a:srgbClr val="64748B"/>
                </a:solidFill>
              </a:defRPr>
            </a:pPr>
            <a:r>
              <a:t>Indirect Reach</a:t>
            </a:r>
          </a:p>
          <a:p>
            <a:pPr algn="ctr">
              <a:defRPr sz="800" b="1">
                <a:solidFill>
                  <a:srgbClr val="92400E"/>
                </a:solidFill>
              </a:defRPr>
            </a:pPr>
            <a:r>
              <a:t>85 Golden Outlets</a:t>
            </a:r>
          </a:p>
        </p:txBody>
      </p:sp>
      <p:sp>
        <p:nvSpPr>
          <p:cNvPr id="29" name="Rounded Rectangle 28"/>
          <p:cNvSpPr/>
          <p:nvPr/>
        </p:nvSpPr>
        <p:spPr>
          <a:xfrm>
            <a:off x="4480560" y="2743200"/>
            <a:ext cx="7296912"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80560" y="2743200"/>
            <a:ext cx="54864" cy="65836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17720" y="2816352"/>
            <a:ext cx="1691640" cy="18288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15803D"/>
                </a:solidFill>
              </a:defRPr>
            </a:pPr>
            <a:r>
              <a:t>Border Trade White Space</a:t>
            </a:r>
          </a:p>
        </p:txBody>
      </p:sp>
      <p:sp>
        <p:nvSpPr>
          <p:cNvPr id="32" name="TextBox 31"/>
          <p:cNvSpPr txBox="1"/>
          <p:nvPr/>
        </p:nvSpPr>
        <p:spPr>
          <a:xfrm>
            <a:off x="4617720" y="3017520"/>
            <a:ext cx="1828800" cy="338328"/>
          </a:xfrm>
          <a:prstGeom prst="rect">
            <a:avLst/>
          </a:prstGeom>
          <a:noFill/>
        </p:spPr>
        <p:txBody>
          <a:bodyPr wrap="square" lIns="0" tIns="0" rIns="0" bIns="0">
            <a:spAutoFit/>
          </a:bodyPr>
          <a:lstStyle/>
          <a:p>
            <a:pPr>
              <a:defRPr sz="1000" b="1">
                <a:solidFill>
                  <a:srgbClr val="111827"/>
                </a:solidFill>
              </a:defRPr>
            </a:pPr>
            <a:r>
              <a:t>C1 HA TIEN</a:t>
            </a:r>
          </a:p>
          <a:p>
            <a:pPr>
              <a:defRPr sz="800">
                <a:solidFill>
                  <a:srgbClr val="64748B"/>
                </a:solidFill>
              </a:defRPr>
            </a:pPr>
            <a:r>
              <a:t>Kien Giang Coastal Depot</a:t>
            </a:r>
          </a:p>
        </p:txBody>
      </p:sp>
      <p:sp>
        <p:nvSpPr>
          <p:cNvPr id="33" name="TextBox 32"/>
          <p:cNvSpPr txBox="1"/>
          <p:nvPr/>
        </p:nvSpPr>
        <p:spPr>
          <a:xfrm>
            <a:off x="6492240" y="2816352"/>
            <a:ext cx="3383280" cy="512064"/>
          </a:xfrm>
          <a:prstGeom prst="rect">
            <a:avLst/>
          </a:prstGeom>
          <a:noFill/>
        </p:spPr>
        <p:txBody>
          <a:bodyPr wrap="square" lIns="0" tIns="0" rIns="0" bIns="0">
            <a:spAutoFit/>
          </a:bodyPr>
          <a:lstStyle/>
          <a:p>
            <a:pPr>
              <a:defRPr sz="819">
                <a:solidFill>
                  <a:srgbClr val="111827"/>
                </a:solidFill>
              </a:defRPr>
            </a:pPr>
            <a:r>
              <a:t>Replaces 68km coastal haul from Rach Gia. Supplies 75 border trade and tourist Golden Outlets with scheduled bulk drops.</a:t>
            </a:r>
          </a:p>
        </p:txBody>
      </p:sp>
      <p:sp>
        <p:nvSpPr>
          <p:cNvPr id="34" name="Rounded Rectangle 33"/>
          <p:cNvSpPr/>
          <p:nvPr/>
        </p:nvSpPr>
        <p:spPr>
          <a:xfrm>
            <a:off x="10085832" y="2852928"/>
            <a:ext cx="1600200" cy="438912"/>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15803D"/>
                </a:solidFill>
              </a:defRPr>
            </a:pPr>
            <a:r>
              <a:t>-52 km</a:t>
            </a:r>
          </a:p>
          <a:p>
            <a:pPr algn="ctr">
              <a:defRPr sz="750">
                <a:solidFill>
                  <a:srgbClr val="64748B"/>
                </a:solidFill>
              </a:defRPr>
            </a:pPr>
            <a:r>
              <a:t>Indirect Reach</a:t>
            </a:r>
          </a:p>
          <a:p>
            <a:pPr algn="ctr">
              <a:defRPr sz="800" b="1">
                <a:solidFill>
                  <a:srgbClr val="15803D"/>
                </a:solidFill>
              </a:defRPr>
            </a:pPr>
            <a:r>
              <a:t>75 Golden Outlets</a:t>
            </a:r>
          </a:p>
        </p:txBody>
      </p:sp>
      <p:sp>
        <p:nvSpPr>
          <p:cNvPr id="35" name="Rounded Rectangle 34"/>
          <p:cNvSpPr/>
          <p:nvPr/>
        </p:nvSpPr>
        <p:spPr>
          <a:xfrm>
            <a:off x="4480560" y="3474720"/>
            <a:ext cx="7296912"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80560" y="3474720"/>
            <a:ext cx="54864"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617720" y="3547872"/>
            <a:ext cx="1691640" cy="182880"/>
          </a:xfrm>
          <a:prstGeom prst="round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6D28D9"/>
                </a:solidFill>
              </a:defRPr>
            </a:pPr>
            <a:r>
              <a:t>Island White Space</a:t>
            </a:r>
          </a:p>
        </p:txBody>
      </p:sp>
      <p:sp>
        <p:nvSpPr>
          <p:cNvPr id="38" name="TextBox 37"/>
          <p:cNvSpPr txBox="1"/>
          <p:nvPr/>
        </p:nvSpPr>
        <p:spPr>
          <a:xfrm>
            <a:off x="4617720" y="3749040"/>
            <a:ext cx="1828800" cy="338328"/>
          </a:xfrm>
          <a:prstGeom prst="rect">
            <a:avLst/>
          </a:prstGeom>
          <a:noFill/>
        </p:spPr>
        <p:txBody>
          <a:bodyPr wrap="square" lIns="0" tIns="0" rIns="0" bIns="0">
            <a:spAutoFit/>
          </a:bodyPr>
          <a:lstStyle/>
          <a:p>
            <a:pPr>
              <a:defRPr sz="1000" b="1">
                <a:solidFill>
                  <a:srgbClr val="111827"/>
                </a:solidFill>
              </a:defRPr>
            </a:pPr>
            <a:r>
              <a:t>C1 BA TRI - BEN TRE</a:t>
            </a:r>
          </a:p>
          <a:p>
            <a:pPr>
              <a:defRPr sz="800">
                <a:solidFill>
                  <a:srgbClr val="64748B"/>
                </a:solidFill>
              </a:defRPr>
            </a:pPr>
            <a:r>
              <a:t>C1 under Hoang Son</a:t>
            </a:r>
          </a:p>
        </p:txBody>
      </p:sp>
      <p:sp>
        <p:nvSpPr>
          <p:cNvPr id="39" name="TextBox 38"/>
          <p:cNvSpPr txBox="1"/>
          <p:nvPr/>
        </p:nvSpPr>
        <p:spPr>
          <a:xfrm>
            <a:off x="6492240" y="3547872"/>
            <a:ext cx="3383280" cy="512064"/>
          </a:xfrm>
          <a:prstGeom prst="rect">
            <a:avLst/>
          </a:prstGeom>
          <a:noFill/>
        </p:spPr>
        <p:txBody>
          <a:bodyPr wrap="square" lIns="0" tIns="0" rIns="0" bIns="0">
            <a:spAutoFit/>
          </a:bodyPr>
          <a:lstStyle/>
          <a:p>
            <a:pPr>
              <a:defRPr sz="819">
                <a:solidFill>
                  <a:srgbClr val="111827"/>
                </a:solidFill>
              </a:defRPr>
            </a:pPr>
            <a:r>
              <a:t>Supplied weekly in bulk FCL by Top 50 Distributor Hoang Son. Eliminates 42km island haul and captures 80 coastal Golden Outlets in Ba Tri and Binh Dai.</a:t>
            </a:r>
          </a:p>
        </p:txBody>
      </p:sp>
      <p:sp>
        <p:nvSpPr>
          <p:cNvPr id="40" name="Rounded Rectangle 39"/>
          <p:cNvSpPr/>
          <p:nvPr/>
        </p:nvSpPr>
        <p:spPr>
          <a:xfrm>
            <a:off x="10085832" y="3584448"/>
            <a:ext cx="1600200" cy="438912"/>
          </a:xfrm>
          <a:prstGeom prst="roundRect">
            <a:avLst/>
          </a:prstGeom>
          <a:solidFill>
            <a:srgbClr val="EDE9FE"/>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6D28D9"/>
                </a:solidFill>
              </a:defRPr>
            </a:pPr>
            <a:r>
              <a:t>-42 km</a:t>
            </a:r>
          </a:p>
          <a:p>
            <a:pPr algn="ctr">
              <a:defRPr sz="750">
                <a:solidFill>
                  <a:srgbClr val="64748B"/>
                </a:solidFill>
              </a:defRPr>
            </a:pPr>
            <a:r>
              <a:t>Indirect Reach</a:t>
            </a:r>
          </a:p>
          <a:p>
            <a:pPr algn="ctr">
              <a:defRPr sz="800" b="1">
                <a:solidFill>
                  <a:srgbClr val="6D28D9"/>
                </a:solidFill>
              </a:defRPr>
            </a:pPr>
            <a:r>
              <a:t>80 Golden Outlets</a:t>
            </a:r>
          </a:p>
        </p:txBody>
      </p:sp>
      <p:sp>
        <p:nvSpPr>
          <p:cNvPr id="41" name="Rounded Rectangle 40"/>
          <p:cNvSpPr/>
          <p:nvPr/>
        </p:nvSpPr>
        <p:spPr>
          <a:xfrm>
            <a:off x="4480560" y="4279392"/>
            <a:ext cx="7296912" cy="658368"/>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15803D"/>
                </a:solidFill>
              </a:defRPr>
            </a:pPr>
            <a:r>
              <a:t>FIELD GOVERNANCE &amp; SUPERVISION REBALANCING:</a:t>
            </a:r>
          </a:p>
          <a:p>
            <a:pPr>
              <a:defRPr sz="800">
                <a:solidFill>
                  <a:srgbClr val="111827"/>
                </a:solidFill>
              </a:defRPr>
            </a:pPr>
            <a:r>
              <a:t>Reallocate 4 Sales Managers from Ho Chi Minh City to staff Top 50 distributors Food House, Shiba, Cuc Tuan, and Hoang Son at zero headcount cost.</a:t>
            </a:r>
          </a:p>
        </p:txBody>
      </p:sp>
      <p:sp>
        <p:nvSpPr>
          <p:cNvPr id="42" name="TextBox 41"/>
          <p:cNvSpPr txBox="1"/>
          <p:nvPr/>
        </p:nvSpPr>
        <p:spPr>
          <a:xfrm>
            <a:off x="4480560" y="5029200"/>
            <a:ext cx="7296912" cy="182880"/>
          </a:xfrm>
          <a:prstGeom prst="rect">
            <a:avLst/>
          </a:prstGeom>
          <a:noFill/>
        </p:spPr>
        <p:txBody>
          <a:bodyPr wrap="none">
            <a:spAutoFit/>
          </a:bodyPr>
          <a:lstStyle/>
          <a:p>
            <a:pPr>
              <a:defRPr sz="850" b="1">
                <a:solidFill>
                  <a:srgbClr val="64748B"/>
                </a:solidFill>
              </a:defRPr>
            </a:pPr>
            <a:r>
              <a:t>EXECUTION ARCHITECTURE • 4 REGIONAL IMPLEMENTATION STEPS</a:t>
            </a:r>
          </a:p>
        </p:txBody>
      </p:sp>
      <p:sp>
        <p:nvSpPr>
          <p:cNvPr id="43" name="Rounded Rectangle 42"/>
          <p:cNvSpPr/>
          <p:nvPr/>
        </p:nvSpPr>
        <p:spPr>
          <a:xfrm>
            <a:off x="4480560"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53712"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1. Network Setup</a:t>
            </a:r>
          </a:p>
          <a:p>
            <a:pPr>
              <a:defRPr sz="800">
                <a:solidFill>
                  <a:srgbClr val="64748B"/>
                </a:solidFill>
              </a:defRPr>
            </a:pPr>
            <a:r>
              <a:t>Contract 4 C1s across Ca Mau, Gia Rai, Ha Tien, and Ba Tri with weekly FCL delivery.</a:t>
            </a:r>
          </a:p>
        </p:txBody>
      </p:sp>
      <p:sp>
        <p:nvSpPr>
          <p:cNvPr id="45" name="Rounded Rectangle 44"/>
          <p:cNvSpPr/>
          <p:nvPr/>
        </p:nvSpPr>
        <p:spPr>
          <a:xfrm>
            <a:off x="6327648"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2. Sales Rebalancing</a:t>
            </a:r>
          </a:p>
          <a:p>
            <a:pPr>
              <a:defRPr sz="800">
                <a:solidFill>
                  <a:srgbClr val="64748B"/>
                </a:solidFill>
              </a:defRPr>
            </a:pPr>
            <a:r>
              <a:t>Transfer 4 experienced Sales Managers from HCMC to establish direct operational supervision in Mekong.</a:t>
            </a:r>
          </a:p>
        </p:txBody>
      </p:sp>
      <p:sp>
        <p:nvSpPr>
          <p:cNvPr id="47" name="Rounded Rectangle 46"/>
          <p:cNvSpPr/>
          <p:nvPr/>
        </p:nvSpPr>
        <p:spPr>
          <a:xfrm>
            <a:off x="8174736"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47888"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3. Dynamic Order Minimum</a:t>
            </a:r>
          </a:p>
          <a:p>
            <a:pPr>
              <a:defRPr sz="800">
                <a:solidFill>
                  <a:srgbClr val="64748B"/>
                </a:solidFill>
              </a:defRPr>
            </a:pPr>
            <a:r>
              <a:t>Enforce 1.2M VND order minimum for direct retail deliveries; route small orders to C1s.</a:t>
            </a:r>
          </a:p>
        </p:txBody>
      </p:sp>
      <p:sp>
        <p:nvSpPr>
          <p:cNvPr id="49" name="Rounded Rectangle 48"/>
          <p:cNvSpPr/>
          <p:nvPr/>
        </p:nvSpPr>
        <p:spPr>
          <a:xfrm>
            <a:off x="10021824"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94976"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4. Trade &amp; Cold Sync</a:t>
            </a:r>
          </a:p>
          <a:p>
            <a:pPr>
              <a:defRPr sz="800">
                <a:solidFill>
                  <a:srgbClr val="64748B"/>
                </a:solidFill>
              </a:defRPr>
            </a:pPr>
            <a:r>
              <a:t>Equip 4 C1s with -18°C storage; partner with Trade Marketing to deploy freezers at 200 Golden Outlets.</a:t>
            </a:r>
          </a:p>
        </p:txBody>
      </p:sp>
      <p:sp>
        <p:nvSpPr>
          <p:cNvPr id="51" name="TextBox 50"/>
          <p:cNvSpPr txBox="1"/>
          <p:nvPr/>
        </p:nvSpPr>
        <p:spPr>
          <a:xfrm>
            <a:off x="411480" y="6565392"/>
            <a:ext cx="11365992" cy="201168"/>
          </a:xfrm>
          <a:prstGeom prst="rect">
            <a:avLst/>
          </a:prstGeom>
          <a:noFill/>
        </p:spPr>
        <p:txBody>
          <a:bodyPr wrap="none" lIns="0" tIns="0" rIns="0" bIns="0">
            <a:spAutoFit/>
          </a:bodyPr>
          <a:lstStyle/>
          <a:p>
            <a:pPr>
              <a:defRPr sz="850">
                <a:solidFill>
                  <a:srgbClr val="94A3B8"/>
                </a:solidFill>
              </a:defRPr>
            </a:pPr>
            <a:r>
              <a:t>* Mekong RTM plan reduces logistics cost by ~2.7B and captures 360 Golden Outlets across 4 key white space districts.   •   Confidential • CJ Foods Vietnam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9326880" cy="502920"/>
          </a:xfrm>
          <a:prstGeom prst="rect">
            <a:avLst/>
          </a:prstGeom>
          <a:noFill/>
        </p:spPr>
        <p:txBody>
          <a:bodyPr wrap="square" lIns="0" tIns="0" rIns="0" bIns="0">
            <a:spAutoFit/>
          </a:bodyPr>
          <a:lstStyle/>
          <a:p>
            <a:pPr>
              <a:defRPr sz="2000" b="1">
                <a:solidFill>
                  <a:srgbClr val="111827"/>
                </a:solidFill>
              </a:defRPr>
            </a:pPr>
            <a:r>
              <a:t>Hanoi Region 2027: Rebalancing Sales Management &amp; Capturing 3,259 Golden Outlets</a:t>
            </a:r>
          </a:p>
        </p:txBody>
      </p:sp>
      <p:sp>
        <p:nvSpPr>
          <p:cNvPr id="4" name="Rounded Rectangle 3"/>
          <p:cNvSpPr/>
          <p:nvPr/>
        </p:nvSpPr>
        <p:spPr>
          <a:xfrm>
            <a:off x="9601200" y="256032"/>
            <a:ext cx="2194560" cy="29260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75985"/>
                </a:solidFill>
              </a:defRPr>
            </a:pPr>
            <a:r>
              <a:t>REGION: HANOI &amp; NW</a:t>
            </a:r>
          </a:p>
        </p:txBody>
      </p:sp>
      <p:sp>
        <p:nvSpPr>
          <p:cNvPr id="5" name="TextBox 4"/>
          <p:cNvSpPr txBox="1"/>
          <p:nvPr/>
        </p:nvSpPr>
        <p:spPr>
          <a:xfrm>
            <a:off x="411480" y="749808"/>
            <a:ext cx="11338560" cy="228600"/>
          </a:xfrm>
          <a:prstGeom prst="rect">
            <a:avLst/>
          </a:prstGeom>
          <a:noFill/>
        </p:spPr>
        <p:txBody>
          <a:bodyPr wrap="none" lIns="0" tIns="0" rIns="0" bIns="0">
            <a:spAutoFit/>
          </a:bodyPr>
          <a:lstStyle/>
          <a:p>
            <a:pPr>
              <a:defRPr sz="919" b="1">
                <a:solidFill>
                  <a:srgbClr val="64748B"/>
                </a:solidFill>
              </a:defRPr>
            </a:pPr>
            <a:r>
              <a:t>REGIONAL RTM BLUEPRINT • 43 ACTIVE DISTRIBUTORS • COLD-CHAIN DISCIPLINE &amp; NORTHWEST IN-FILL</a:t>
            </a:r>
          </a:p>
        </p:txBody>
      </p:sp>
      <p:sp>
        <p:nvSpPr>
          <p:cNvPr id="6" name="TextBox 5"/>
          <p:cNvSpPr txBox="1"/>
          <p:nvPr/>
        </p:nvSpPr>
        <p:spPr>
          <a:xfrm>
            <a:off x="411480" y="1051560"/>
            <a:ext cx="3931920" cy="228600"/>
          </a:xfrm>
          <a:prstGeom prst="rect">
            <a:avLst/>
          </a:prstGeom>
          <a:noFill/>
        </p:spPr>
        <p:txBody>
          <a:bodyPr wrap="none">
            <a:spAutoFit/>
          </a:bodyPr>
          <a:lstStyle/>
          <a:p>
            <a:pPr>
              <a:defRPr sz="950" b="1">
                <a:solidFill>
                  <a:srgbClr val="64748B"/>
                </a:solidFill>
              </a:defRPr>
            </a:pPr>
            <a:r>
              <a:t>1. CURRENT RTM DIAGNOSTIC &amp; WHITE SPACE VOIDS</a:t>
            </a:r>
          </a:p>
        </p:txBody>
      </p:sp>
      <p:sp>
        <p:nvSpPr>
          <p:cNvPr id="7" name="Rounded Rectangle 6"/>
          <p:cNvSpPr/>
          <p:nvPr/>
        </p:nvSpPr>
        <p:spPr>
          <a:xfrm>
            <a:off x="411480" y="1280160"/>
            <a:ext cx="1874519"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53312"/>
            <a:ext cx="1655063" cy="768096"/>
          </a:xfrm>
          <a:prstGeom prst="rect">
            <a:avLst/>
          </a:prstGeom>
          <a:noFill/>
        </p:spPr>
        <p:txBody>
          <a:bodyPr wrap="square" lIns="0" tIns="0" rIns="0" bIns="0">
            <a:spAutoFit/>
          </a:bodyPr>
          <a:lstStyle/>
          <a:p>
            <a:pPr>
              <a:spcAft>
                <a:spcPts val="200"/>
              </a:spcAft>
              <a:defRPr sz="1700" b="1">
                <a:solidFill>
                  <a:srgbClr val="DC2626"/>
                </a:solidFill>
              </a:defRPr>
            </a:pPr>
            <a:r>
              <a:t>12.6 km</a:t>
            </a:r>
          </a:p>
          <a:p>
            <a:pPr>
              <a:defRPr sz="900" b="1">
                <a:solidFill>
                  <a:srgbClr val="111827"/>
                </a:solidFill>
              </a:defRPr>
            </a:pPr>
            <a:r>
              <a:t>Avg Drop Distance</a:t>
            </a:r>
          </a:p>
          <a:p>
            <a:pPr>
              <a:defRPr sz="800">
                <a:solidFill>
                  <a:srgbClr val="64748B"/>
                </a:solidFill>
              </a:defRPr>
            </a:pPr>
            <a:r>
              <a:t>Moderate suburban friction</a:t>
            </a:r>
          </a:p>
        </p:txBody>
      </p:sp>
      <p:sp>
        <p:nvSpPr>
          <p:cNvPr id="9" name="Rounded Rectangle 8"/>
          <p:cNvSpPr/>
          <p:nvPr/>
        </p:nvSpPr>
        <p:spPr>
          <a:xfrm>
            <a:off x="2377440" y="1280160"/>
            <a:ext cx="196596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7168" y="1353312"/>
            <a:ext cx="1746504" cy="768096"/>
          </a:xfrm>
          <a:prstGeom prst="rect">
            <a:avLst/>
          </a:prstGeom>
          <a:noFill/>
        </p:spPr>
        <p:txBody>
          <a:bodyPr wrap="square" lIns="0" tIns="0" rIns="0" bIns="0">
            <a:spAutoFit/>
          </a:bodyPr>
          <a:lstStyle/>
          <a:p>
            <a:pPr>
              <a:spcAft>
                <a:spcPts val="200"/>
              </a:spcAft>
              <a:defRPr sz="1700" b="1">
                <a:solidFill>
                  <a:srgbClr val="DC2626"/>
                </a:solidFill>
              </a:defRPr>
            </a:pPr>
            <a:r>
              <a:t>36.1%</a:t>
            </a:r>
          </a:p>
          <a:p>
            <a:pPr>
              <a:defRPr sz="900" b="1">
                <a:solidFill>
                  <a:srgbClr val="111827"/>
                </a:solidFill>
              </a:defRPr>
            </a:pPr>
            <a:r>
              <a:t>Cold Product Mix</a:t>
            </a:r>
          </a:p>
          <a:p>
            <a:pPr>
              <a:defRPr sz="800">
                <a:solidFill>
                  <a:srgbClr val="64748B"/>
                </a:solidFill>
              </a:defRPr>
            </a:pPr>
            <a:r>
              <a:t>Highest cold demand in VN</a:t>
            </a:r>
          </a:p>
        </p:txBody>
      </p:sp>
      <p:sp>
        <p:nvSpPr>
          <p:cNvPr id="11" name="Rounded Rectangle 10"/>
          <p:cNvSpPr/>
          <p:nvPr/>
        </p:nvSpPr>
        <p:spPr>
          <a:xfrm>
            <a:off x="411480" y="228600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359152"/>
            <a:ext cx="3712464" cy="722376"/>
          </a:xfrm>
          <a:prstGeom prst="rect">
            <a:avLst/>
          </a:prstGeom>
          <a:noFill/>
        </p:spPr>
        <p:txBody>
          <a:bodyPr wrap="square" lIns="0" tIns="0" rIns="0" bIns="0">
            <a:spAutoFit/>
          </a:bodyPr>
          <a:lstStyle/>
          <a:p>
            <a:pPr>
              <a:spcAft>
                <a:spcPts val="200"/>
              </a:spcAft>
              <a:defRPr sz="1700" b="1">
                <a:solidFill>
                  <a:srgbClr val="D97706"/>
                </a:solidFill>
              </a:defRPr>
            </a:pPr>
            <a:r>
              <a:t>86.2 km Extreme Haul</a:t>
            </a:r>
          </a:p>
          <a:p>
            <a:pPr>
              <a:defRPr sz="900" b="1">
                <a:solidFill>
                  <a:srgbClr val="111827"/>
                </a:solidFill>
              </a:defRPr>
            </a:pPr>
            <a:r>
              <a:t>Yen Bai to Lao Cai Border</a:t>
            </a:r>
          </a:p>
          <a:p>
            <a:pPr>
              <a:defRPr sz="800">
                <a:solidFill>
                  <a:srgbClr val="64748B"/>
                </a:solidFill>
              </a:defRPr>
            </a:pPr>
            <a:r>
              <a:t>Extreme mountainous haul</a:t>
            </a:r>
          </a:p>
        </p:txBody>
      </p:sp>
      <p:sp>
        <p:nvSpPr>
          <p:cNvPr id="13" name="Rounded Rectangle 12"/>
          <p:cNvSpPr/>
          <p:nvPr/>
        </p:nvSpPr>
        <p:spPr>
          <a:xfrm>
            <a:off x="411480" y="3246120"/>
            <a:ext cx="393192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10128"/>
            <a:ext cx="3749039" cy="1645920"/>
          </a:xfrm>
          <a:prstGeom prst="rect">
            <a:avLst/>
          </a:prstGeom>
          <a:noFill/>
        </p:spPr>
        <p:txBody>
          <a:bodyPr wrap="square" lIns="0" tIns="0" rIns="0" bIns="0">
            <a:spAutoFit/>
          </a:bodyPr>
          <a:lstStyle/>
          <a:p>
            <a:pPr>
              <a:spcAft>
                <a:spcPts val="400"/>
              </a:spcAft>
              <a:defRPr sz="819">
                <a:solidFill>
                  <a:srgbClr val="111827"/>
                </a:solidFill>
              </a:defRPr>
            </a:pPr>
            <a:r>
              <a:t>High Cold Assortment: 36.1% cold product mix requires rigorous cold-chain integrity across suburban and provincial delivery beats.</a:t>
            </a:r>
          </a:p>
          <a:p>
            <a:pPr>
              <a:defRPr sz="819">
                <a:solidFill>
                  <a:srgbClr val="111827"/>
                </a:solidFill>
              </a:defRPr>
            </a:pPr>
            <a:r>
              <a:t>Suburban White Spaces: High retail store density in suburban districts sits within 15km of distributor warehouses without direct DSR presence.</a:t>
            </a:r>
          </a:p>
        </p:txBody>
      </p:sp>
      <p:sp>
        <p:nvSpPr>
          <p:cNvPr id="15" name="Rounded Rectangle 14"/>
          <p:cNvSpPr/>
          <p:nvPr/>
        </p:nvSpPr>
        <p:spPr>
          <a:xfrm>
            <a:off x="411480" y="5120640"/>
            <a:ext cx="3931920" cy="132588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991B1B"/>
                </a:solidFill>
              </a:defRPr>
            </a:pPr>
            <a:r>
              <a:t>REGIONAL STRATEGIC MANDATE:</a:t>
            </a:r>
          </a:p>
          <a:p>
            <a:pPr>
              <a:defRPr sz="800">
                <a:solidFill>
                  <a:srgbClr val="111827"/>
                </a:solidFill>
              </a:defRPr>
            </a:pPr>
            <a:r>
              <a:t>Capture 1,200 urban Golden Outlets via beat in-fill and eliminate extreme Northwest transit runs via C1 Lao Cai and Phu Tho.</a:t>
            </a:r>
          </a:p>
        </p:txBody>
      </p:sp>
      <p:sp>
        <p:nvSpPr>
          <p:cNvPr id="16" name="TextBox 15"/>
          <p:cNvSpPr txBox="1"/>
          <p:nvPr/>
        </p:nvSpPr>
        <p:spPr>
          <a:xfrm>
            <a:off x="4480560" y="1051560"/>
            <a:ext cx="7296912" cy="228600"/>
          </a:xfrm>
          <a:prstGeom prst="rect">
            <a:avLst/>
          </a:prstGeom>
          <a:noFill/>
        </p:spPr>
        <p:txBody>
          <a:bodyPr wrap="none">
            <a:spAutoFit/>
          </a:bodyPr>
          <a:lstStyle/>
          <a:p>
            <a:pPr>
              <a:defRPr sz="950" b="1">
                <a:solidFill>
                  <a:srgbClr val="64748B"/>
                </a:solidFill>
              </a:defRPr>
            </a:pPr>
            <a:r>
              <a:t>2. PROPOSED C1 PARTNERS: CAPTURING WHITE SPACES &amp; CUTTING REMOTE LOGISTICS</a:t>
            </a:r>
          </a:p>
        </p:txBody>
      </p:sp>
      <p:sp>
        <p:nvSpPr>
          <p:cNvPr id="17" name="Rounded Rectangle 16"/>
          <p:cNvSpPr/>
          <p:nvPr/>
        </p:nvSpPr>
        <p:spPr>
          <a:xfrm>
            <a:off x="4480560" y="128016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1280160"/>
            <a:ext cx="54864" cy="9022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17720" y="1353312"/>
            <a:ext cx="1691640" cy="18288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91B1B"/>
                </a:solidFill>
              </a:defRPr>
            </a:pPr>
            <a:r>
              <a:t>Border White Space</a:t>
            </a:r>
          </a:p>
        </p:txBody>
      </p:sp>
      <p:sp>
        <p:nvSpPr>
          <p:cNvPr id="20" name="TextBox 19"/>
          <p:cNvSpPr txBox="1"/>
          <p:nvPr/>
        </p:nvSpPr>
        <p:spPr>
          <a:xfrm>
            <a:off x="4617720" y="1554480"/>
            <a:ext cx="1828800" cy="582168"/>
          </a:xfrm>
          <a:prstGeom prst="rect">
            <a:avLst/>
          </a:prstGeom>
          <a:noFill/>
        </p:spPr>
        <p:txBody>
          <a:bodyPr wrap="square" lIns="0" tIns="0" rIns="0" bIns="0">
            <a:spAutoFit/>
          </a:bodyPr>
          <a:lstStyle/>
          <a:p>
            <a:pPr>
              <a:defRPr sz="1000" b="1">
                <a:solidFill>
                  <a:srgbClr val="111827"/>
                </a:solidFill>
              </a:defRPr>
            </a:pPr>
            <a:r>
              <a:t>C1 LAO CAI BORDER</a:t>
            </a:r>
          </a:p>
          <a:p>
            <a:pPr>
              <a:defRPr sz="800">
                <a:solidFill>
                  <a:srgbClr val="64748B"/>
                </a:solidFill>
              </a:defRPr>
            </a:pPr>
            <a:r>
              <a:t>Northwest Border Depot</a:t>
            </a:r>
          </a:p>
        </p:txBody>
      </p:sp>
      <p:sp>
        <p:nvSpPr>
          <p:cNvPr id="21" name="TextBox 20"/>
          <p:cNvSpPr txBox="1"/>
          <p:nvPr/>
        </p:nvSpPr>
        <p:spPr>
          <a:xfrm>
            <a:off x="6492240" y="1353312"/>
            <a:ext cx="3383280" cy="755904"/>
          </a:xfrm>
          <a:prstGeom prst="rect">
            <a:avLst/>
          </a:prstGeom>
          <a:noFill/>
        </p:spPr>
        <p:txBody>
          <a:bodyPr wrap="square" lIns="0" tIns="0" rIns="0" bIns="0">
            <a:spAutoFit/>
          </a:bodyPr>
          <a:lstStyle/>
          <a:p>
            <a:pPr>
              <a:defRPr sz="819">
                <a:solidFill>
                  <a:srgbClr val="111827"/>
                </a:solidFill>
              </a:defRPr>
            </a:pPr>
            <a:r>
              <a:t>Eliminates extreme 86.2km mountainous haul from Yen Bai. Captures 38 retail stores across Lao Cai and Sa Pa trade corridors.</a:t>
            </a:r>
          </a:p>
        </p:txBody>
      </p:sp>
      <p:sp>
        <p:nvSpPr>
          <p:cNvPr id="22" name="Rounded Rectangle 21"/>
          <p:cNvSpPr/>
          <p:nvPr/>
        </p:nvSpPr>
        <p:spPr>
          <a:xfrm>
            <a:off x="10085832" y="1389888"/>
            <a:ext cx="1600200" cy="6827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91B1B"/>
                </a:solidFill>
              </a:defRPr>
            </a:pPr>
            <a:r>
              <a:t>-86 km</a:t>
            </a:r>
          </a:p>
          <a:p>
            <a:pPr algn="ctr">
              <a:defRPr sz="750">
                <a:solidFill>
                  <a:srgbClr val="64748B"/>
                </a:solidFill>
              </a:defRPr>
            </a:pPr>
            <a:r>
              <a:t>Indirect Reach</a:t>
            </a:r>
          </a:p>
          <a:p>
            <a:pPr algn="ctr">
              <a:defRPr sz="800" b="1">
                <a:solidFill>
                  <a:srgbClr val="991B1B"/>
                </a:solidFill>
              </a:defRPr>
            </a:pPr>
            <a:r>
              <a:t>38 Golden Outlets</a:t>
            </a:r>
          </a:p>
        </p:txBody>
      </p:sp>
      <p:sp>
        <p:nvSpPr>
          <p:cNvPr id="23" name="Rounded Rectangle 22"/>
          <p:cNvSpPr/>
          <p:nvPr/>
        </p:nvSpPr>
        <p:spPr>
          <a:xfrm>
            <a:off x="4480560" y="225552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2255520"/>
            <a:ext cx="54864" cy="9022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17720" y="2328672"/>
            <a:ext cx="1691640" cy="18288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2400E"/>
                </a:solidFill>
              </a:defRPr>
            </a:pPr>
            <a:r>
              <a:t>Northwest Foothills</a:t>
            </a:r>
          </a:p>
        </p:txBody>
      </p:sp>
      <p:sp>
        <p:nvSpPr>
          <p:cNvPr id="26" name="TextBox 25"/>
          <p:cNvSpPr txBox="1"/>
          <p:nvPr/>
        </p:nvSpPr>
        <p:spPr>
          <a:xfrm>
            <a:off x="4617720" y="2529840"/>
            <a:ext cx="1828800" cy="582168"/>
          </a:xfrm>
          <a:prstGeom prst="rect">
            <a:avLst/>
          </a:prstGeom>
          <a:noFill/>
        </p:spPr>
        <p:txBody>
          <a:bodyPr wrap="square" lIns="0" tIns="0" rIns="0" bIns="0">
            <a:spAutoFit/>
          </a:bodyPr>
          <a:lstStyle/>
          <a:p>
            <a:pPr>
              <a:defRPr sz="1000" b="1">
                <a:solidFill>
                  <a:srgbClr val="111827"/>
                </a:solidFill>
              </a:defRPr>
            </a:pPr>
            <a:r>
              <a:t>C1 DOAN HUNG</a:t>
            </a:r>
          </a:p>
          <a:p>
            <a:pPr>
              <a:defRPr sz="800">
                <a:solidFill>
                  <a:srgbClr val="64748B"/>
                </a:solidFill>
              </a:defRPr>
            </a:pPr>
            <a:r>
              <a:t>Phu Tho Foothills Depot</a:t>
            </a:r>
          </a:p>
        </p:txBody>
      </p:sp>
      <p:sp>
        <p:nvSpPr>
          <p:cNvPr id="27" name="TextBox 26"/>
          <p:cNvSpPr txBox="1"/>
          <p:nvPr/>
        </p:nvSpPr>
        <p:spPr>
          <a:xfrm>
            <a:off x="6492240" y="2328672"/>
            <a:ext cx="3383280" cy="755904"/>
          </a:xfrm>
          <a:prstGeom prst="rect">
            <a:avLst/>
          </a:prstGeom>
          <a:noFill/>
        </p:spPr>
        <p:txBody>
          <a:bodyPr wrap="square" lIns="0" tIns="0" rIns="0" bIns="0">
            <a:spAutoFit/>
          </a:bodyPr>
          <a:lstStyle/>
          <a:p>
            <a:pPr>
              <a:defRPr sz="819">
                <a:solidFill>
                  <a:srgbClr val="111827"/>
                </a:solidFill>
              </a:defRPr>
            </a:pPr>
            <a:r>
              <a:t>Relieves Viet Tri distributor from 58km hill country routes. Distributes locally to 50 Golden Outlets in Northwest Phu Tho.</a:t>
            </a:r>
          </a:p>
        </p:txBody>
      </p:sp>
      <p:sp>
        <p:nvSpPr>
          <p:cNvPr id="28" name="Rounded Rectangle 27"/>
          <p:cNvSpPr/>
          <p:nvPr/>
        </p:nvSpPr>
        <p:spPr>
          <a:xfrm>
            <a:off x="10085832" y="2365248"/>
            <a:ext cx="1600200" cy="682752"/>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2400E"/>
                </a:solidFill>
              </a:defRPr>
            </a:pPr>
            <a:r>
              <a:t>-45 km</a:t>
            </a:r>
          </a:p>
          <a:p>
            <a:pPr algn="ctr">
              <a:defRPr sz="750">
                <a:solidFill>
                  <a:srgbClr val="64748B"/>
                </a:solidFill>
              </a:defRPr>
            </a:pPr>
            <a:r>
              <a:t>Indirect Reach</a:t>
            </a:r>
          </a:p>
          <a:p>
            <a:pPr algn="ctr">
              <a:defRPr sz="800" b="1">
                <a:solidFill>
                  <a:srgbClr val="92400E"/>
                </a:solidFill>
              </a:defRPr>
            </a:pPr>
            <a:r>
              <a:t>50 Golden Outlets</a:t>
            </a:r>
          </a:p>
        </p:txBody>
      </p:sp>
      <p:sp>
        <p:nvSpPr>
          <p:cNvPr id="29" name="Rounded Rectangle 28"/>
          <p:cNvSpPr/>
          <p:nvPr/>
        </p:nvSpPr>
        <p:spPr>
          <a:xfrm>
            <a:off x="4480560" y="323088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80560" y="3230880"/>
            <a:ext cx="54864" cy="9022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17720" y="3304032"/>
            <a:ext cx="1691640" cy="18288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15803D"/>
                </a:solidFill>
              </a:defRPr>
            </a:pPr>
            <a:r>
              <a:t>Agricultural White Space</a:t>
            </a:r>
          </a:p>
        </p:txBody>
      </p:sp>
      <p:sp>
        <p:nvSpPr>
          <p:cNvPr id="32" name="TextBox 31"/>
          <p:cNvSpPr txBox="1"/>
          <p:nvPr/>
        </p:nvSpPr>
        <p:spPr>
          <a:xfrm>
            <a:off x="4617720" y="3505200"/>
            <a:ext cx="1828800" cy="582168"/>
          </a:xfrm>
          <a:prstGeom prst="rect">
            <a:avLst/>
          </a:prstGeom>
          <a:noFill/>
        </p:spPr>
        <p:txBody>
          <a:bodyPr wrap="square" lIns="0" tIns="0" rIns="0" bIns="0">
            <a:spAutoFit/>
          </a:bodyPr>
          <a:lstStyle/>
          <a:p>
            <a:pPr>
              <a:defRPr sz="1000" b="1">
                <a:solidFill>
                  <a:srgbClr val="111827"/>
                </a:solidFill>
              </a:defRPr>
            </a:pPr>
            <a:r>
              <a:t>C1 SON DUONG</a:t>
            </a:r>
          </a:p>
          <a:p>
            <a:pPr>
              <a:defRPr sz="800">
                <a:solidFill>
                  <a:srgbClr val="64748B"/>
                </a:solidFill>
              </a:defRPr>
            </a:pPr>
            <a:r>
              <a:t>Tuyen Quang Valley</a:t>
            </a:r>
          </a:p>
        </p:txBody>
      </p:sp>
      <p:sp>
        <p:nvSpPr>
          <p:cNvPr id="33" name="TextBox 32"/>
          <p:cNvSpPr txBox="1"/>
          <p:nvPr/>
        </p:nvSpPr>
        <p:spPr>
          <a:xfrm>
            <a:off x="6492240" y="3304032"/>
            <a:ext cx="3383280" cy="755904"/>
          </a:xfrm>
          <a:prstGeom prst="rect">
            <a:avLst/>
          </a:prstGeom>
          <a:noFill/>
        </p:spPr>
        <p:txBody>
          <a:bodyPr wrap="square" lIns="0" tIns="0" rIns="0" bIns="0">
            <a:spAutoFit/>
          </a:bodyPr>
          <a:lstStyle/>
          <a:p>
            <a:pPr>
              <a:defRPr sz="819">
                <a:solidFill>
                  <a:srgbClr val="111827"/>
                </a:solidFill>
              </a:defRPr>
            </a:pPr>
            <a:r>
              <a:t>Captures 15 Golden Outlets across border agricultural valley bypassed by provincial delivery trucks.</a:t>
            </a:r>
          </a:p>
        </p:txBody>
      </p:sp>
      <p:sp>
        <p:nvSpPr>
          <p:cNvPr id="34" name="Rounded Rectangle 33"/>
          <p:cNvSpPr/>
          <p:nvPr/>
        </p:nvSpPr>
        <p:spPr>
          <a:xfrm>
            <a:off x="10085832" y="3340608"/>
            <a:ext cx="1600200" cy="682752"/>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15803D"/>
                </a:solidFill>
              </a:defRPr>
            </a:pPr>
            <a:r>
              <a:t>-38 km</a:t>
            </a:r>
          </a:p>
          <a:p>
            <a:pPr algn="ctr">
              <a:defRPr sz="750">
                <a:solidFill>
                  <a:srgbClr val="64748B"/>
                </a:solidFill>
              </a:defRPr>
            </a:pPr>
            <a:r>
              <a:t>Indirect Reach</a:t>
            </a:r>
          </a:p>
          <a:p>
            <a:pPr algn="ctr">
              <a:defRPr sz="800" b="1">
                <a:solidFill>
                  <a:srgbClr val="15803D"/>
                </a:solidFill>
              </a:defRPr>
            </a:pPr>
            <a:r>
              <a:t>15 Golden Outlets</a:t>
            </a:r>
          </a:p>
        </p:txBody>
      </p:sp>
      <p:sp>
        <p:nvSpPr>
          <p:cNvPr id="35" name="Rounded Rectangle 34"/>
          <p:cNvSpPr/>
          <p:nvPr/>
        </p:nvSpPr>
        <p:spPr>
          <a:xfrm>
            <a:off x="4480560" y="4279392"/>
            <a:ext cx="7296912" cy="658368"/>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15803D"/>
                </a:solidFill>
              </a:defRPr>
            </a:pPr>
            <a:r>
              <a:t>FIELD GOVERNANCE &amp; SUPERVISION REBALANCING:</a:t>
            </a:r>
          </a:p>
          <a:p>
            <a:pPr>
              <a:defRPr sz="800">
                <a:solidFill>
                  <a:srgbClr val="111827"/>
                </a:solidFill>
              </a:defRPr>
            </a:pPr>
            <a:r>
              <a:t>Deploy Sales Managers to Top 50 Distributor Tien Phong; enforce strict GPS tracking on DMS across 100% of urban sales beats.</a:t>
            </a:r>
          </a:p>
        </p:txBody>
      </p:sp>
      <p:sp>
        <p:nvSpPr>
          <p:cNvPr id="36" name="TextBox 35"/>
          <p:cNvSpPr txBox="1"/>
          <p:nvPr/>
        </p:nvSpPr>
        <p:spPr>
          <a:xfrm>
            <a:off x="4480560" y="5029200"/>
            <a:ext cx="7296912" cy="182880"/>
          </a:xfrm>
          <a:prstGeom prst="rect">
            <a:avLst/>
          </a:prstGeom>
          <a:noFill/>
        </p:spPr>
        <p:txBody>
          <a:bodyPr wrap="none">
            <a:spAutoFit/>
          </a:bodyPr>
          <a:lstStyle/>
          <a:p>
            <a:pPr>
              <a:defRPr sz="850" b="1">
                <a:solidFill>
                  <a:srgbClr val="64748B"/>
                </a:solidFill>
              </a:defRPr>
            </a:pPr>
            <a:r>
              <a:t>EXECUTION ARCHITECTURE • 4 REGIONAL IMPLEMENTATION STEPS</a:t>
            </a:r>
          </a:p>
        </p:txBody>
      </p:sp>
      <p:sp>
        <p:nvSpPr>
          <p:cNvPr id="37" name="Rounded Rectangle 36"/>
          <p:cNvSpPr/>
          <p:nvPr/>
        </p:nvSpPr>
        <p:spPr>
          <a:xfrm>
            <a:off x="4480560"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53712"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1. Field Supervision</a:t>
            </a:r>
          </a:p>
          <a:p>
            <a:pPr>
              <a:defRPr sz="800">
                <a:solidFill>
                  <a:srgbClr val="64748B"/>
                </a:solidFill>
              </a:defRPr>
            </a:pPr>
            <a:r>
              <a:t>Staff Tien Phong and suburban distributors to eliminate route overlap and discounting.</a:t>
            </a:r>
          </a:p>
        </p:txBody>
      </p:sp>
      <p:sp>
        <p:nvSpPr>
          <p:cNvPr id="39" name="Rounded Rectangle 38"/>
          <p:cNvSpPr/>
          <p:nvPr/>
        </p:nvSpPr>
        <p:spPr>
          <a:xfrm>
            <a:off x="6327648"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2. Outlet In-Fill</a:t>
            </a:r>
          </a:p>
          <a:p>
            <a:pPr>
              <a:defRPr sz="800">
                <a:solidFill>
                  <a:srgbClr val="64748B"/>
                </a:solidFill>
              </a:defRPr>
            </a:pPr>
            <a:r>
              <a:t>In-fill 3 to 5 verified Golden Outlets per sales beat across suburban Hanoi districts.</a:t>
            </a:r>
          </a:p>
        </p:txBody>
      </p:sp>
      <p:sp>
        <p:nvSpPr>
          <p:cNvPr id="41" name="Rounded Rectangle 40"/>
          <p:cNvSpPr/>
          <p:nvPr/>
        </p:nvSpPr>
        <p:spPr>
          <a:xfrm>
            <a:off x="8174736"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7888"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3. Logistics Delivery</a:t>
            </a:r>
          </a:p>
          <a:p>
            <a:pPr>
              <a:defRPr sz="800">
                <a:solidFill>
                  <a:srgbClr val="64748B"/>
                </a:solidFill>
              </a:defRPr>
            </a:pPr>
            <a:r>
              <a:t>Supply C1s in Lao Cai and Doan Hung via monthly FCL consolidated shipments.</a:t>
            </a:r>
          </a:p>
        </p:txBody>
      </p:sp>
      <p:sp>
        <p:nvSpPr>
          <p:cNvPr id="43" name="Rounded Rectangle 42"/>
          <p:cNvSpPr/>
          <p:nvPr/>
        </p:nvSpPr>
        <p:spPr>
          <a:xfrm>
            <a:off x="10021824"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94976"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4. Trade &amp; Cold Sync</a:t>
            </a:r>
          </a:p>
          <a:p>
            <a:pPr>
              <a:defRPr sz="800">
                <a:solidFill>
                  <a:srgbClr val="64748B"/>
                </a:solidFill>
              </a:defRPr>
            </a:pPr>
            <a:r>
              <a:t>Deploy 400 trade freezers across converted suburban Golden Outlets.</a:t>
            </a:r>
          </a:p>
        </p:txBody>
      </p:sp>
      <p:sp>
        <p:nvSpPr>
          <p:cNvPr id="45" name="TextBox 44"/>
          <p:cNvSpPr txBox="1"/>
          <p:nvPr/>
        </p:nvSpPr>
        <p:spPr>
          <a:xfrm>
            <a:off x="411480" y="6565392"/>
            <a:ext cx="11365992" cy="201168"/>
          </a:xfrm>
          <a:prstGeom prst="rect">
            <a:avLst/>
          </a:prstGeom>
          <a:noFill/>
        </p:spPr>
        <p:txBody>
          <a:bodyPr wrap="none" lIns="0" tIns="0" rIns="0" bIns="0">
            <a:spAutoFit/>
          </a:bodyPr>
          <a:lstStyle/>
          <a:p>
            <a:pPr>
              <a:defRPr sz="850">
                <a:solidFill>
                  <a:srgbClr val="94A3B8"/>
                </a:solidFill>
              </a:defRPr>
            </a:pPr>
            <a:r>
              <a:t>* Hanoi RTM plan unlocks ~12.5B in GT revenue by in-filling 1,200 urban Golden Outlets and deploying 3 C1s.   •   Confidential • CJ Foods Vietnam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9326880" cy="502920"/>
          </a:xfrm>
          <a:prstGeom prst="rect">
            <a:avLst/>
          </a:prstGeom>
          <a:noFill/>
        </p:spPr>
        <p:txBody>
          <a:bodyPr wrap="square" lIns="0" tIns="0" rIns="0" bIns="0">
            <a:spAutoFit/>
          </a:bodyPr>
          <a:lstStyle/>
          <a:p>
            <a:pPr>
              <a:defRPr sz="2000" b="1">
                <a:solidFill>
                  <a:srgbClr val="111827"/>
                </a:solidFill>
              </a:defRPr>
            </a:pPr>
            <a:r>
              <a:t>Nha Trang Region 2027: Plateau C1s to Bridge Mountainous Distance Friction</a:t>
            </a:r>
          </a:p>
        </p:txBody>
      </p:sp>
      <p:sp>
        <p:nvSpPr>
          <p:cNvPr id="4" name="Rounded Rectangle 3"/>
          <p:cNvSpPr/>
          <p:nvPr/>
        </p:nvSpPr>
        <p:spPr>
          <a:xfrm>
            <a:off x="9601200" y="256032"/>
            <a:ext cx="2194560" cy="29260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75985"/>
                </a:solidFill>
              </a:defRPr>
            </a:pPr>
            <a:r>
              <a:t>REGION: NHA TRANG &amp; HIGHLANDS</a:t>
            </a:r>
          </a:p>
        </p:txBody>
      </p:sp>
      <p:sp>
        <p:nvSpPr>
          <p:cNvPr id="5" name="TextBox 4"/>
          <p:cNvSpPr txBox="1"/>
          <p:nvPr/>
        </p:nvSpPr>
        <p:spPr>
          <a:xfrm>
            <a:off x="411480" y="749808"/>
            <a:ext cx="11338560" cy="228600"/>
          </a:xfrm>
          <a:prstGeom prst="rect">
            <a:avLst/>
          </a:prstGeom>
          <a:noFill/>
        </p:spPr>
        <p:txBody>
          <a:bodyPr wrap="none" lIns="0" tIns="0" rIns="0" bIns="0">
            <a:spAutoFit/>
          </a:bodyPr>
          <a:lstStyle/>
          <a:p>
            <a:pPr>
              <a:defRPr sz="919" b="1">
                <a:solidFill>
                  <a:srgbClr val="64748B"/>
                </a:solidFill>
              </a:defRPr>
            </a:pPr>
            <a:r>
              <a:t>REGIONAL RTM BLUEPRINT • 57 ACTIVE DISTRIBUTORS • CUTTING HIGH-ALTITUDE TRANSIT RUNS ALONG HIGHWAY 14</a:t>
            </a:r>
          </a:p>
        </p:txBody>
      </p:sp>
      <p:sp>
        <p:nvSpPr>
          <p:cNvPr id="6" name="TextBox 5"/>
          <p:cNvSpPr txBox="1"/>
          <p:nvPr/>
        </p:nvSpPr>
        <p:spPr>
          <a:xfrm>
            <a:off x="411480" y="1051560"/>
            <a:ext cx="3931920" cy="228600"/>
          </a:xfrm>
          <a:prstGeom prst="rect">
            <a:avLst/>
          </a:prstGeom>
          <a:noFill/>
        </p:spPr>
        <p:txBody>
          <a:bodyPr wrap="none">
            <a:spAutoFit/>
          </a:bodyPr>
          <a:lstStyle/>
          <a:p>
            <a:pPr>
              <a:defRPr sz="950" b="1">
                <a:solidFill>
                  <a:srgbClr val="64748B"/>
                </a:solidFill>
              </a:defRPr>
            </a:pPr>
            <a:r>
              <a:t>1. CURRENT RTM DIAGNOSTIC &amp; WHITE SPACE VOIDS</a:t>
            </a:r>
          </a:p>
        </p:txBody>
      </p:sp>
      <p:sp>
        <p:nvSpPr>
          <p:cNvPr id="7" name="Rounded Rectangle 6"/>
          <p:cNvSpPr/>
          <p:nvPr/>
        </p:nvSpPr>
        <p:spPr>
          <a:xfrm>
            <a:off x="411480" y="1280160"/>
            <a:ext cx="1874519"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53312"/>
            <a:ext cx="1655063" cy="768096"/>
          </a:xfrm>
          <a:prstGeom prst="rect">
            <a:avLst/>
          </a:prstGeom>
          <a:noFill/>
        </p:spPr>
        <p:txBody>
          <a:bodyPr wrap="square" lIns="0" tIns="0" rIns="0" bIns="0">
            <a:spAutoFit/>
          </a:bodyPr>
          <a:lstStyle/>
          <a:p>
            <a:pPr>
              <a:spcAft>
                <a:spcPts val="200"/>
              </a:spcAft>
              <a:defRPr sz="1700" b="1">
                <a:solidFill>
                  <a:srgbClr val="DC2626"/>
                </a:solidFill>
              </a:defRPr>
            </a:pPr>
            <a:r>
              <a:t>11.8 km</a:t>
            </a:r>
          </a:p>
          <a:p>
            <a:pPr>
              <a:defRPr sz="900" b="1">
                <a:solidFill>
                  <a:srgbClr val="111827"/>
                </a:solidFill>
              </a:defRPr>
            </a:pPr>
            <a:r>
              <a:t>Avg Drop Distance</a:t>
            </a:r>
          </a:p>
          <a:p>
            <a:pPr>
              <a:defRPr sz="800">
                <a:solidFill>
                  <a:srgbClr val="64748B"/>
                </a:solidFill>
              </a:defRPr>
            </a:pPr>
            <a:r>
              <a:t>High plateau delivery friction</a:t>
            </a:r>
          </a:p>
        </p:txBody>
      </p:sp>
      <p:sp>
        <p:nvSpPr>
          <p:cNvPr id="9" name="Rounded Rectangle 8"/>
          <p:cNvSpPr/>
          <p:nvPr/>
        </p:nvSpPr>
        <p:spPr>
          <a:xfrm>
            <a:off x="2377440" y="1280160"/>
            <a:ext cx="196596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7168" y="1353312"/>
            <a:ext cx="1746504" cy="768096"/>
          </a:xfrm>
          <a:prstGeom prst="rect">
            <a:avLst/>
          </a:prstGeom>
          <a:noFill/>
        </p:spPr>
        <p:txBody>
          <a:bodyPr wrap="square" lIns="0" tIns="0" rIns="0" bIns="0">
            <a:spAutoFit/>
          </a:bodyPr>
          <a:lstStyle/>
          <a:p>
            <a:pPr>
              <a:spcAft>
                <a:spcPts val="200"/>
              </a:spcAft>
              <a:defRPr sz="1700" b="1">
                <a:solidFill>
                  <a:srgbClr val="DC2626"/>
                </a:solidFill>
              </a:defRPr>
            </a:pPr>
            <a:r>
              <a:t>88</a:t>
            </a:r>
          </a:p>
          <a:p>
            <a:pPr>
              <a:defRPr sz="900" b="1">
                <a:solidFill>
                  <a:srgbClr val="111827"/>
                </a:solidFill>
              </a:defRPr>
            </a:pPr>
            <a:r>
              <a:t>Drops &gt;45km</a:t>
            </a:r>
          </a:p>
          <a:p>
            <a:pPr>
              <a:defRPr sz="800">
                <a:solidFill>
                  <a:srgbClr val="64748B"/>
                </a:solidFill>
              </a:defRPr>
            </a:pPr>
            <a:r>
              <a:t>Steep pass transit runs</a:t>
            </a:r>
          </a:p>
        </p:txBody>
      </p:sp>
      <p:sp>
        <p:nvSpPr>
          <p:cNvPr id="11" name="Rounded Rectangle 10"/>
          <p:cNvSpPr/>
          <p:nvPr/>
        </p:nvSpPr>
        <p:spPr>
          <a:xfrm>
            <a:off x="411480" y="228600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359152"/>
            <a:ext cx="3712464" cy="722376"/>
          </a:xfrm>
          <a:prstGeom prst="rect">
            <a:avLst/>
          </a:prstGeom>
          <a:noFill/>
        </p:spPr>
        <p:txBody>
          <a:bodyPr wrap="square" lIns="0" tIns="0" rIns="0" bIns="0">
            <a:spAutoFit/>
          </a:bodyPr>
          <a:lstStyle/>
          <a:p>
            <a:pPr>
              <a:spcAft>
                <a:spcPts val="200"/>
              </a:spcAft>
              <a:defRPr sz="1700" b="1">
                <a:solidFill>
                  <a:srgbClr val="D97706"/>
                </a:solidFill>
              </a:defRPr>
            </a:pPr>
            <a:r>
              <a:t>74.5 km Extreme Haul</a:t>
            </a:r>
          </a:p>
          <a:p>
            <a:pPr>
              <a:defRPr sz="900" b="1">
                <a:solidFill>
                  <a:srgbClr val="111827"/>
                </a:solidFill>
              </a:defRPr>
            </a:pPr>
            <a:r>
              <a:t>Gia Lai to Krong Pa Valley</a:t>
            </a:r>
          </a:p>
          <a:p>
            <a:pPr>
              <a:defRPr sz="800">
                <a:solidFill>
                  <a:srgbClr val="64748B"/>
                </a:solidFill>
              </a:defRPr>
            </a:pPr>
            <a:r>
              <a:t>Severe mountain pass risk</a:t>
            </a:r>
          </a:p>
        </p:txBody>
      </p:sp>
      <p:sp>
        <p:nvSpPr>
          <p:cNvPr id="13" name="Rounded Rectangle 12"/>
          <p:cNvSpPr/>
          <p:nvPr/>
        </p:nvSpPr>
        <p:spPr>
          <a:xfrm>
            <a:off x="411480" y="3246120"/>
            <a:ext cx="393192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10128"/>
            <a:ext cx="3749039" cy="1645920"/>
          </a:xfrm>
          <a:prstGeom prst="rect">
            <a:avLst/>
          </a:prstGeom>
          <a:noFill/>
        </p:spPr>
        <p:txBody>
          <a:bodyPr wrap="square" lIns="0" tIns="0" rIns="0" bIns="0">
            <a:spAutoFit/>
          </a:bodyPr>
          <a:lstStyle/>
          <a:p>
            <a:pPr>
              <a:spcAft>
                <a:spcPts val="400"/>
              </a:spcAft>
              <a:defRPr sz="819">
                <a:solidFill>
                  <a:srgbClr val="111827"/>
                </a:solidFill>
              </a:defRPr>
            </a:pPr>
            <a:r>
              <a:t>Mountain Pass Topography: Steep terrain between coastal plains and central plateau causes vehicle wear, long transit hours, and delivery delays.</a:t>
            </a:r>
          </a:p>
          <a:p>
            <a:pPr>
              <a:defRPr sz="819">
                <a:solidFill>
                  <a:srgbClr val="111827"/>
                </a:solidFill>
              </a:defRPr>
            </a:pPr>
            <a:r>
              <a:t>High Distributor Density: 57 active distributors provide extensive geographic coverage but require consolidation in remote transit corridors.</a:t>
            </a:r>
          </a:p>
        </p:txBody>
      </p:sp>
      <p:sp>
        <p:nvSpPr>
          <p:cNvPr id="15" name="Rounded Rectangle 14"/>
          <p:cNvSpPr/>
          <p:nvPr/>
        </p:nvSpPr>
        <p:spPr>
          <a:xfrm>
            <a:off x="411480" y="5120640"/>
            <a:ext cx="3931920" cy="132588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991B1B"/>
                </a:solidFill>
              </a:defRPr>
            </a:pPr>
            <a:r>
              <a:t>REGIONAL STRATEGIC MANDATE:</a:t>
            </a:r>
          </a:p>
          <a:p>
            <a:pPr>
              <a:defRPr sz="800">
                <a:solidFill>
                  <a:srgbClr val="111827"/>
                </a:solidFill>
              </a:defRPr>
            </a:pPr>
            <a:r>
              <a:t>Deploy 3 plateau C1s to eliminate hazardous mountain transit runs while capturing 116 Golden Outlets along Highway 14.</a:t>
            </a:r>
          </a:p>
        </p:txBody>
      </p:sp>
      <p:sp>
        <p:nvSpPr>
          <p:cNvPr id="16" name="TextBox 15"/>
          <p:cNvSpPr txBox="1"/>
          <p:nvPr/>
        </p:nvSpPr>
        <p:spPr>
          <a:xfrm>
            <a:off x="4480560" y="1051560"/>
            <a:ext cx="7296912" cy="228600"/>
          </a:xfrm>
          <a:prstGeom prst="rect">
            <a:avLst/>
          </a:prstGeom>
          <a:noFill/>
        </p:spPr>
        <p:txBody>
          <a:bodyPr wrap="none">
            <a:spAutoFit/>
          </a:bodyPr>
          <a:lstStyle/>
          <a:p>
            <a:pPr>
              <a:defRPr sz="950" b="1">
                <a:solidFill>
                  <a:srgbClr val="64748B"/>
                </a:solidFill>
              </a:defRPr>
            </a:pPr>
            <a:r>
              <a:t>2. PROPOSED C1 PARTNERS: CAPTURING WHITE SPACES &amp; CUTTING REMOTE LOGISTICS</a:t>
            </a:r>
          </a:p>
        </p:txBody>
      </p:sp>
      <p:sp>
        <p:nvSpPr>
          <p:cNvPr id="17" name="Rounded Rectangle 16"/>
          <p:cNvSpPr/>
          <p:nvPr/>
        </p:nvSpPr>
        <p:spPr>
          <a:xfrm>
            <a:off x="4480560" y="128016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1280160"/>
            <a:ext cx="54864" cy="9022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17720" y="1353312"/>
            <a:ext cx="1691640" cy="18288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91B1B"/>
                </a:solidFill>
              </a:defRPr>
            </a:pPr>
            <a:r>
              <a:t>Highland White Space</a:t>
            </a:r>
          </a:p>
        </p:txBody>
      </p:sp>
      <p:sp>
        <p:nvSpPr>
          <p:cNvPr id="20" name="TextBox 19"/>
          <p:cNvSpPr txBox="1"/>
          <p:nvPr/>
        </p:nvSpPr>
        <p:spPr>
          <a:xfrm>
            <a:off x="4617720" y="1554480"/>
            <a:ext cx="1828800" cy="582168"/>
          </a:xfrm>
          <a:prstGeom prst="rect">
            <a:avLst/>
          </a:prstGeom>
          <a:noFill/>
        </p:spPr>
        <p:txBody>
          <a:bodyPr wrap="square" lIns="0" tIns="0" rIns="0" bIns="0">
            <a:spAutoFit/>
          </a:bodyPr>
          <a:lstStyle/>
          <a:p>
            <a:pPr>
              <a:defRPr sz="1000" b="1">
                <a:solidFill>
                  <a:srgbClr val="111827"/>
                </a:solidFill>
              </a:defRPr>
            </a:pPr>
            <a:r>
              <a:t>C1 BUON HO</a:t>
            </a:r>
          </a:p>
          <a:p>
            <a:pPr>
              <a:defRPr sz="800">
                <a:solidFill>
                  <a:srgbClr val="64748B"/>
                </a:solidFill>
              </a:defRPr>
            </a:pPr>
            <a:r>
              <a:t>Highway 14 Corridor</a:t>
            </a:r>
          </a:p>
        </p:txBody>
      </p:sp>
      <p:sp>
        <p:nvSpPr>
          <p:cNvPr id="21" name="TextBox 20"/>
          <p:cNvSpPr txBox="1"/>
          <p:nvPr/>
        </p:nvSpPr>
        <p:spPr>
          <a:xfrm>
            <a:off x="6492240" y="1353312"/>
            <a:ext cx="3383280" cy="755904"/>
          </a:xfrm>
          <a:prstGeom prst="rect">
            <a:avLst/>
          </a:prstGeom>
          <a:noFill/>
        </p:spPr>
        <p:txBody>
          <a:bodyPr wrap="square" lIns="0" tIns="0" rIns="0" bIns="0">
            <a:spAutoFit/>
          </a:bodyPr>
          <a:lstStyle/>
          <a:p>
            <a:pPr>
              <a:defRPr sz="819">
                <a:solidFill>
                  <a:srgbClr val="111827"/>
                </a:solidFill>
              </a:defRPr>
            </a:pPr>
            <a:r>
              <a:t>Wholesale depot along Highway 14 north of Buon Ma Thuot. Supplies 54 Golden Outlets across coffee trading belt.</a:t>
            </a:r>
          </a:p>
        </p:txBody>
      </p:sp>
      <p:sp>
        <p:nvSpPr>
          <p:cNvPr id="22" name="Rounded Rectangle 21"/>
          <p:cNvSpPr/>
          <p:nvPr/>
        </p:nvSpPr>
        <p:spPr>
          <a:xfrm>
            <a:off x="10085832" y="1389888"/>
            <a:ext cx="1600200" cy="682752"/>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91B1B"/>
                </a:solidFill>
              </a:defRPr>
            </a:pPr>
            <a:r>
              <a:t>-40 km</a:t>
            </a:r>
          </a:p>
          <a:p>
            <a:pPr algn="ctr">
              <a:defRPr sz="750">
                <a:solidFill>
                  <a:srgbClr val="64748B"/>
                </a:solidFill>
              </a:defRPr>
            </a:pPr>
            <a:r>
              <a:t>Indirect Reach</a:t>
            </a:r>
          </a:p>
          <a:p>
            <a:pPr algn="ctr">
              <a:defRPr sz="800" b="1">
                <a:solidFill>
                  <a:srgbClr val="991B1B"/>
                </a:solidFill>
              </a:defRPr>
            </a:pPr>
            <a:r>
              <a:t>54 Golden Outlets</a:t>
            </a:r>
          </a:p>
        </p:txBody>
      </p:sp>
      <p:sp>
        <p:nvSpPr>
          <p:cNvPr id="23" name="Rounded Rectangle 22"/>
          <p:cNvSpPr/>
          <p:nvPr/>
        </p:nvSpPr>
        <p:spPr>
          <a:xfrm>
            <a:off x="4480560" y="225552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2255520"/>
            <a:ext cx="54864" cy="9022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17720" y="2328672"/>
            <a:ext cx="1691640" cy="18288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2400E"/>
                </a:solidFill>
              </a:defRPr>
            </a:pPr>
            <a:r>
              <a:t>Plantation White Space</a:t>
            </a:r>
          </a:p>
        </p:txBody>
      </p:sp>
      <p:sp>
        <p:nvSpPr>
          <p:cNvPr id="26" name="TextBox 25"/>
          <p:cNvSpPr txBox="1"/>
          <p:nvPr/>
        </p:nvSpPr>
        <p:spPr>
          <a:xfrm>
            <a:off x="4617720" y="2529840"/>
            <a:ext cx="1828800" cy="582168"/>
          </a:xfrm>
          <a:prstGeom prst="rect">
            <a:avLst/>
          </a:prstGeom>
          <a:noFill/>
        </p:spPr>
        <p:txBody>
          <a:bodyPr wrap="square" lIns="0" tIns="0" rIns="0" bIns="0">
            <a:spAutoFit/>
          </a:bodyPr>
          <a:lstStyle/>
          <a:p>
            <a:pPr>
              <a:defRPr sz="1000" b="1">
                <a:solidFill>
                  <a:srgbClr val="111827"/>
                </a:solidFill>
              </a:defRPr>
            </a:pPr>
            <a:r>
              <a:t>C1 PHUOC LONG</a:t>
            </a:r>
          </a:p>
          <a:p>
            <a:pPr>
              <a:defRPr sz="800">
                <a:solidFill>
                  <a:srgbClr val="64748B"/>
                </a:solidFill>
              </a:defRPr>
            </a:pPr>
            <a:r>
              <a:t>Binh Phuoc Foothills</a:t>
            </a:r>
          </a:p>
        </p:txBody>
      </p:sp>
      <p:sp>
        <p:nvSpPr>
          <p:cNvPr id="27" name="TextBox 26"/>
          <p:cNvSpPr txBox="1"/>
          <p:nvPr/>
        </p:nvSpPr>
        <p:spPr>
          <a:xfrm>
            <a:off x="6492240" y="2328672"/>
            <a:ext cx="3383280" cy="755904"/>
          </a:xfrm>
          <a:prstGeom prst="rect">
            <a:avLst/>
          </a:prstGeom>
          <a:noFill/>
        </p:spPr>
        <p:txBody>
          <a:bodyPr wrap="square" lIns="0" tIns="0" rIns="0" bIns="0">
            <a:spAutoFit/>
          </a:bodyPr>
          <a:lstStyle/>
          <a:p>
            <a:pPr>
              <a:defRPr sz="819">
                <a:solidFill>
                  <a:srgbClr val="111827"/>
                </a:solidFill>
              </a:defRPr>
            </a:pPr>
            <a:r>
              <a:t>Captures 48 Golden Outlets in cashewnut and rubber plantations, relieving 52km haul from Dong Xoai distributor.</a:t>
            </a:r>
          </a:p>
        </p:txBody>
      </p:sp>
      <p:sp>
        <p:nvSpPr>
          <p:cNvPr id="28" name="Rounded Rectangle 27"/>
          <p:cNvSpPr/>
          <p:nvPr/>
        </p:nvSpPr>
        <p:spPr>
          <a:xfrm>
            <a:off x="10085832" y="2365248"/>
            <a:ext cx="1600200" cy="682752"/>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2400E"/>
                </a:solidFill>
              </a:defRPr>
            </a:pPr>
            <a:r>
              <a:t>-38 km</a:t>
            </a:r>
          </a:p>
          <a:p>
            <a:pPr algn="ctr">
              <a:defRPr sz="750">
                <a:solidFill>
                  <a:srgbClr val="64748B"/>
                </a:solidFill>
              </a:defRPr>
            </a:pPr>
            <a:r>
              <a:t>Indirect Reach</a:t>
            </a:r>
          </a:p>
          <a:p>
            <a:pPr algn="ctr">
              <a:defRPr sz="800" b="1">
                <a:solidFill>
                  <a:srgbClr val="92400E"/>
                </a:solidFill>
              </a:defRPr>
            </a:pPr>
            <a:r>
              <a:t>48 Golden Outlets</a:t>
            </a:r>
          </a:p>
        </p:txBody>
      </p:sp>
      <p:sp>
        <p:nvSpPr>
          <p:cNvPr id="29" name="Rounded Rectangle 28"/>
          <p:cNvSpPr/>
          <p:nvPr/>
        </p:nvSpPr>
        <p:spPr>
          <a:xfrm>
            <a:off x="4480560" y="323088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80560" y="3230880"/>
            <a:ext cx="54864" cy="9022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17720" y="3304032"/>
            <a:ext cx="1691640" cy="18288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15803D"/>
                </a:solidFill>
              </a:defRPr>
            </a:pPr>
            <a:r>
              <a:t>Mountain Pass White Space</a:t>
            </a:r>
          </a:p>
        </p:txBody>
      </p:sp>
      <p:sp>
        <p:nvSpPr>
          <p:cNvPr id="32" name="TextBox 31"/>
          <p:cNvSpPr txBox="1"/>
          <p:nvPr/>
        </p:nvSpPr>
        <p:spPr>
          <a:xfrm>
            <a:off x="4617720" y="3505200"/>
            <a:ext cx="1828800" cy="582168"/>
          </a:xfrm>
          <a:prstGeom prst="rect">
            <a:avLst/>
          </a:prstGeom>
          <a:noFill/>
        </p:spPr>
        <p:txBody>
          <a:bodyPr wrap="square" lIns="0" tIns="0" rIns="0" bIns="0">
            <a:spAutoFit/>
          </a:bodyPr>
          <a:lstStyle/>
          <a:p>
            <a:pPr>
              <a:defRPr sz="1000" b="1">
                <a:solidFill>
                  <a:srgbClr val="111827"/>
                </a:solidFill>
              </a:defRPr>
            </a:pPr>
            <a:r>
              <a:t>C1 KRONG PA</a:t>
            </a:r>
          </a:p>
          <a:p>
            <a:pPr>
              <a:defRPr sz="800">
                <a:solidFill>
                  <a:srgbClr val="64748B"/>
                </a:solidFill>
              </a:defRPr>
            </a:pPr>
            <a:r>
              <a:t>Ayun Pa Valley</a:t>
            </a:r>
          </a:p>
        </p:txBody>
      </p:sp>
      <p:sp>
        <p:nvSpPr>
          <p:cNvPr id="33" name="TextBox 32"/>
          <p:cNvSpPr txBox="1"/>
          <p:nvPr/>
        </p:nvSpPr>
        <p:spPr>
          <a:xfrm>
            <a:off x="6492240" y="3304032"/>
            <a:ext cx="3383280" cy="755904"/>
          </a:xfrm>
          <a:prstGeom prst="rect">
            <a:avLst/>
          </a:prstGeom>
          <a:noFill/>
        </p:spPr>
        <p:txBody>
          <a:bodyPr wrap="square" lIns="0" tIns="0" rIns="0" bIns="0">
            <a:spAutoFit/>
          </a:bodyPr>
          <a:lstStyle/>
          <a:p>
            <a:pPr>
              <a:defRPr sz="819">
                <a:solidFill>
                  <a:srgbClr val="111827"/>
                </a:solidFill>
              </a:defRPr>
            </a:pPr>
            <a:r>
              <a:t>Eliminates dangerous mountain pass delivery from Pleiku. C1 handles 14 remote retail drops via local utility vehicles.</a:t>
            </a:r>
          </a:p>
        </p:txBody>
      </p:sp>
      <p:sp>
        <p:nvSpPr>
          <p:cNvPr id="34" name="Rounded Rectangle 33"/>
          <p:cNvSpPr/>
          <p:nvPr/>
        </p:nvSpPr>
        <p:spPr>
          <a:xfrm>
            <a:off x="10085832" y="3340608"/>
            <a:ext cx="1600200" cy="682752"/>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15803D"/>
                </a:solidFill>
              </a:defRPr>
            </a:pPr>
            <a:r>
              <a:t>-48 km</a:t>
            </a:r>
          </a:p>
          <a:p>
            <a:pPr algn="ctr">
              <a:defRPr sz="750">
                <a:solidFill>
                  <a:srgbClr val="64748B"/>
                </a:solidFill>
              </a:defRPr>
            </a:pPr>
            <a:r>
              <a:t>Indirect Reach</a:t>
            </a:r>
          </a:p>
          <a:p>
            <a:pPr algn="ctr">
              <a:defRPr sz="800" b="1">
                <a:solidFill>
                  <a:srgbClr val="15803D"/>
                </a:solidFill>
              </a:defRPr>
            </a:pPr>
            <a:r>
              <a:t>14 Golden Outlets</a:t>
            </a:r>
          </a:p>
        </p:txBody>
      </p:sp>
      <p:sp>
        <p:nvSpPr>
          <p:cNvPr id="35" name="Rounded Rectangle 34"/>
          <p:cNvSpPr/>
          <p:nvPr/>
        </p:nvSpPr>
        <p:spPr>
          <a:xfrm>
            <a:off x="4480560" y="4279392"/>
            <a:ext cx="7296912" cy="658368"/>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15803D"/>
                </a:solidFill>
              </a:defRPr>
            </a:pPr>
            <a:r>
              <a:t>FIELD GOVERNANCE &amp; SUPERVISION REBALANCING:</a:t>
            </a:r>
          </a:p>
          <a:p>
            <a:pPr>
              <a:defRPr sz="800">
                <a:solidFill>
                  <a:srgbClr val="111827"/>
                </a:solidFill>
              </a:defRPr>
            </a:pPr>
            <a:r>
              <a:t>100% Sales Manager coverage already established; focus supervision on cold-chain vehicle temperature monitoring during mountain transit.</a:t>
            </a:r>
          </a:p>
        </p:txBody>
      </p:sp>
      <p:sp>
        <p:nvSpPr>
          <p:cNvPr id="36" name="TextBox 35"/>
          <p:cNvSpPr txBox="1"/>
          <p:nvPr/>
        </p:nvSpPr>
        <p:spPr>
          <a:xfrm>
            <a:off x="4480560" y="5029200"/>
            <a:ext cx="7296912" cy="182880"/>
          </a:xfrm>
          <a:prstGeom prst="rect">
            <a:avLst/>
          </a:prstGeom>
          <a:noFill/>
        </p:spPr>
        <p:txBody>
          <a:bodyPr wrap="none">
            <a:spAutoFit/>
          </a:bodyPr>
          <a:lstStyle/>
          <a:p>
            <a:pPr>
              <a:defRPr sz="850" b="1">
                <a:solidFill>
                  <a:srgbClr val="64748B"/>
                </a:solidFill>
              </a:defRPr>
            </a:pPr>
            <a:r>
              <a:t>EXECUTION ARCHITECTURE • 4 REGIONAL IMPLEMENTATION STEPS</a:t>
            </a:r>
          </a:p>
        </p:txBody>
      </p:sp>
      <p:sp>
        <p:nvSpPr>
          <p:cNvPr id="37" name="Rounded Rectangle 36"/>
          <p:cNvSpPr/>
          <p:nvPr/>
        </p:nvSpPr>
        <p:spPr>
          <a:xfrm>
            <a:off x="4480560"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53712"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1. Network Setup</a:t>
            </a:r>
          </a:p>
          <a:p>
            <a:pPr>
              <a:defRPr sz="800">
                <a:solidFill>
                  <a:srgbClr val="64748B"/>
                </a:solidFill>
              </a:defRPr>
            </a:pPr>
            <a:r>
              <a:t>Contract wholesale C1s in Buon Ho and Phuoc Long to consolidate Highway 14 delivery.</a:t>
            </a:r>
          </a:p>
        </p:txBody>
      </p:sp>
      <p:sp>
        <p:nvSpPr>
          <p:cNvPr id="39" name="Rounded Rectangle 38"/>
          <p:cNvSpPr/>
          <p:nvPr/>
        </p:nvSpPr>
        <p:spPr>
          <a:xfrm>
            <a:off x="6327648"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2. Logistics Delivery</a:t>
            </a:r>
          </a:p>
          <a:p>
            <a:pPr>
              <a:defRPr sz="800">
                <a:solidFill>
                  <a:srgbClr val="64748B"/>
                </a:solidFill>
              </a:defRPr>
            </a:pPr>
            <a:r>
              <a:t>Transition from small vans to bi-weekly 5-ton refrigerated truckloads.</a:t>
            </a:r>
          </a:p>
        </p:txBody>
      </p:sp>
      <p:sp>
        <p:nvSpPr>
          <p:cNvPr id="41" name="Rounded Rectangle 40"/>
          <p:cNvSpPr/>
          <p:nvPr/>
        </p:nvSpPr>
        <p:spPr>
          <a:xfrm>
            <a:off x="8174736"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7888"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3. Dynamic Order Minimum</a:t>
            </a:r>
          </a:p>
          <a:p>
            <a:pPr>
              <a:defRPr sz="800">
                <a:solidFill>
                  <a:srgbClr val="64748B"/>
                </a:solidFill>
              </a:defRPr>
            </a:pPr>
            <a:r>
              <a:t>Enforce 1.5M VND order minimum for cross-pass direct deliveries.</a:t>
            </a:r>
          </a:p>
        </p:txBody>
      </p:sp>
      <p:sp>
        <p:nvSpPr>
          <p:cNvPr id="43" name="Rounded Rectangle 42"/>
          <p:cNvSpPr/>
          <p:nvPr/>
        </p:nvSpPr>
        <p:spPr>
          <a:xfrm>
            <a:off x="10021824"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94976"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4. Trade &amp; Cold Sync</a:t>
            </a:r>
          </a:p>
          <a:p>
            <a:pPr>
              <a:defRPr sz="800">
                <a:solidFill>
                  <a:srgbClr val="64748B"/>
                </a:solidFill>
              </a:defRPr>
            </a:pPr>
            <a:r>
              <a:t>Prioritize chest freezers for key grocery stores along Highway 14.</a:t>
            </a:r>
          </a:p>
        </p:txBody>
      </p:sp>
      <p:sp>
        <p:nvSpPr>
          <p:cNvPr id="45" name="TextBox 44"/>
          <p:cNvSpPr txBox="1"/>
          <p:nvPr/>
        </p:nvSpPr>
        <p:spPr>
          <a:xfrm>
            <a:off x="411480" y="6565392"/>
            <a:ext cx="11365992" cy="201168"/>
          </a:xfrm>
          <a:prstGeom prst="rect">
            <a:avLst/>
          </a:prstGeom>
          <a:noFill/>
        </p:spPr>
        <p:txBody>
          <a:bodyPr wrap="none" lIns="0" tIns="0" rIns="0" bIns="0">
            <a:spAutoFit/>
          </a:bodyPr>
          <a:lstStyle/>
          <a:p>
            <a:pPr>
              <a:defRPr sz="850">
                <a:solidFill>
                  <a:srgbClr val="94A3B8"/>
                </a:solidFill>
              </a:defRPr>
            </a:pPr>
            <a:r>
              <a:t>* Nha Trang RTM plan cuts 78% of remote mountain drops and secures indirect distribution across 116 plateau Golden Outlets.   •   Confidential • CJ Foods Vietnam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9326880" cy="502920"/>
          </a:xfrm>
          <a:prstGeom prst="rect">
            <a:avLst/>
          </a:prstGeom>
          <a:noFill/>
        </p:spPr>
        <p:txBody>
          <a:bodyPr wrap="square" lIns="0" tIns="0" rIns="0" bIns="0">
            <a:spAutoFit/>
          </a:bodyPr>
          <a:lstStyle/>
          <a:p>
            <a:pPr>
              <a:defRPr sz="2000" b="1">
                <a:solidFill>
                  <a:srgbClr val="111827"/>
                </a:solidFill>
              </a:defRPr>
            </a:pPr>
            <a:r>
              <a:t>Da Nang Region 2027: Cross-Border Re-Zoning &amp; Tunnel Logistics Optimization</a:t>
            </a:r>
          </a:p>
        </p:txBody>
      </p:sp>
      <p:sp>
        <p:nvSpPr>
          <p:cNvPr id="4" name="Rounded Rectangle 3"/>
          <p:cNvSpPr/>
          <p:nvPr/>
        </p:nvSpPr>
        <p:spPr>
          <a:xfrm>
            <a:off x="9601200" y="256032"/>
            <a:ext cx="2194560" cy="29260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75985"/>
                </a:solidFill>
              </a:defRPr>
            </a:pPr>
            <a:r>
              <a:t>REGION: DA NANG &amp; CENTRAL</a:t>
            </a:r>
          </a:p>
        </p:txBody>
      </p:sp>
      <p:sp>
        <p:nvSpPr>
          <p:cNvPr id="5" name="TextBox 4"/>
          <p:cNvSpPr txBox="1"/>
          <p:nvPr/>
        </p:nvSpPr>
        <p:spPr>
          <a:xfrm>
            <a:off x="411480" y="749808"/>
            <a:ext cx="11338560" cy="228600"/>
          </a:xfrm>
          <a:prstGeom prst="rect">
            <a:avLst/>
          </a:prstGeom>
          <a:noFill/>
        </p:spPr>
        <p:txBody>
          <a:bodyPr wrap="none" lIns="0" tIns="0" rIns="0" bIns="0">
            <a:spAutoFit/>
          </a:bodyPr>
          <a:lstStyle/>
          <a:p>
            <a:pPr>
              <a:defRPr sz="919" b="1">
                <a:solidFill>
                  <a:srgbClr val="64748B"/>
                </a:solidFill>
              </a:defRPr>
            </a:pPr>
            <a:r>
              <a:t>REGIONAL RTM BLUEPRINT • 16 ACTIVE DISTRIBUTORS • RESOLVING HAI VAN PASS FRICTION &amp; LINEAR COASTAL GEOMETRY</a:t>
            </a:r>
          </a:p>
        </p:txBody>
      </p:sp>
      <p:sp>
        <p:nvSpPr>
          <p:cNvPr id="6" name="TextBox 5"/>
          <p:cNvSpPr txBox="1"/>
          <p:nvPr/>
        </p:nvSpPr>
        <p:spPr>
          <a:xfrm>
            <a:off x="411480" y="1051560"/>
            <a:ext cx="3931920" cy="228600"/>
          </a:xfrm>
          <a:prstGeom prst="rect">
            <a:avLst/>
          </a:prstGeom>
          <a:noFill/>
        </p:spPr>
        <p:txBody>
          <a:bodyPr wrap="none">
            <a:spAutoFit/>
          </a:bodyPr>
          <a:lstStyle/>
          <a:p>
            <a:pPr>
              <a:defRPr sz="950" b="1">
                <a:solidFill>
                  <a:srgbClr val="64748B"/>
                </a:solidFill>
              </a:defRPr>
            </a:pPr>
            <a:r>
              <a:t>1. CURRENT RTM DIAGNOSTIC &amp; WHITE SPACE VOIDS</a:t>
            </a:r>
          </a:p>
        </p:txBody>
      </p:sp>
      <p:sp>
        <p:nvSpPr>
          <p:cNvPr id="7" name="Rounded Rectangle 6"/>
          <p:cNvSpPr/>
          <p:nvPr/>
        </p:nvSpPr>
        <p:spPr>
          <a:xfrm>
            <a:off x="411480" y="1280160"/>
            <a:ext cx="1874519"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53312"/>
            <a:ext cx="1655063" cy="768096"/>
          </a:xfrm>
          <a:prstGeom prst="rect">
            <a:avLst/>
          </a:prstGeom>
          <a:noFill/>
        </p:spPr>
        <p:txBody>
          <a:bodyPr wrap="square" lIns="0" tIns="0" rIns="0" bIns="0">
            <a:spAutoFit/>
          </a:bodyPr>
          <a:lstStyle/>
          <a:p>
            <a:pPr>
              <a:spcAft>
                <a:spcPts val="200"/>
              </a:spcAft>
              <a:defRPr sz="1700" b="1">
                <a:solidFill>
                  <a:srgbClr val="DC2626"/>
                </a:solidFill>
              </a:defRPr>
            </a:pPr>
            <a:r>
              <a:t>10.1 km</a:t>
            </a:r>
          </a:p>
          <a:p>
            <a:pPr>
              <a:defRPr sz="900" b="1">
                <a:solidFill>
                  <a:srgbClr val="111827"/>
                </a:solidFill>
              </a:defRPr>
            </a:pPr>
            <a:r>
              <a:t>Avg Drop Distance</a:t>
            </a:r>
          </a:p>
          <a:p>
            <a:pPr>
              <a:defRPr sz="800">
                <a:solidFill>
                  <a:srgbClr val="64748B"/>
                </a:solidFill>
              </a:defRPr>
            </a:pPr>
            <a:r>
              <a:t>Best coastal delivery average</a:t>
            </a:r>
          </a:p>
        </p:txBody>
      </p:sp>
      <p:sp>
        <p:nvSpPr>
          <p:cNvPr id="9" name="Rounded Rectangle 8"/>
          <p:cNvSpPr/>
          <p:nvPr/>
        </p:nvSpPr>
        <p:spPr>
          <a:xfrm>
            <a:off x="2377440" y="1280160"/>
            <a:ext cx="196596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7168" y="1353312"/>
            <a:ext cx="1746504" cy="768096"/>
          </a:xfrm>
          <a:prstGeom prst="rect">
            <a:avLst/>
          </a:prstGeom>
          <a:noFill/>
        </p:spPr>
        <p:txBody>
          <a:bodyPr wrap="square" lIns="0" tIns="0" rIns="0" bIns="0">
            <a:spAutoFit/>
          </a:bodyPr>
          <a:lstStyle/>
          <a:p>
            <a:pPr>
              <a:spcAft>
                <a:spcPts val="200"/>
              </a:spcAft>
              <a:defRPr sz="1700" b="1">
                <a:solidFill>
                  <a:srgbClr val="DC2626"/>
                </a:solidFill>
              </a:defRPr>
            </a:pPr>
            <a:r>
              <a:t>26</a:t>
            </a:r>
          </a:p>
          <a:p>
            <a:pPr>
              <a:defRPr sz="900" b="1">
                <a:solidFill>
                  <a:srgbClr val="111827"/>
                </a:solidFill>
              </a:defRPr>
            </a:pPr>
            <a:r>
              <a:t>Drops &gt;45km</a:t>
            </a:r>
          </a:p>
          <a:p>
            <a:pPr>
              <a:defRPr sz="800">
                <a:solidFill>
                  <a:srgbClr val="64748B"/>
                </a:solidFill>
              </a:defRPr>
            </a:pPr>
            <a:r>
              <a:t>1.1% of national remote drops</a:t>
            </a:r>
          </a:p>
        </p:txBody>
      </p:sp>
      <p:sp>
        <p:nvSpPr>
          <p:cNvPr id="11" name="Rounded Rectangle 10"/>
          <p:cNvSpPr/>
          <p:nvPr/>
        </p:nvSpPr>
        <p:spPr>
          <a:xfrm>
            <a:off x="411480" y="228600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359152"/>
            <a:ext cx="3712464" cy="722376"/>
          </a:xfrm>
          <a:prstGeom prst="rect">
            <a:avLst/>
          </a:prstGeom>
          <a:noFill/>
        </p:spPr>
        <p:txBody>
          <a:bodyPr wrap="square" lIns="0" tIns="0" rIns="0" bIns="0">
            <a:spAutoFit/>
          </a:bodyPr>
          <a:lstStyle/>
          <a:p>
            <a:pPr>
              <a:spcAft>
                <a:spcPts val="200"/>
              </a:spcAft>
              <a:defRPr sz="1700" b="1">
                <a:solidFill>
                  <a:srgbClr val="D97706"/>
                </a:solidFill>
              </a:defRPr>
            </a:pPr>
            <a:r>
              <a:t>48.2 km Extreme Haul</a:t>
            </a:r>
          </a:p>
          <a:p>
            <a:pPr>
              <a:defRPr sz="900" b="1">
                <a:solidFill>
                  <a:srgbClr val="111827"/>
                </a:solidFill>
              </a:defRPr>
            </a:pPr>
            <a:r>
              <a:t>Dong Hoi to Le Thuy</a:t>
            </a:r>
          </a:p>
          <a:p>
            <a:pPr>
              <a:defRPr sz="800">
                <a:solidFill>
                  <a:srgbClr val="64748B"/>
                </a:solidFill>
              </a:defRPr>
            </a:pPr>
            <a:r>
              <a:t>Highway 1A coastal haul</a:t>
            </a:r>
          </a:p>
        </p:txBody>
      </p:sp>
      <p:sp>
        <p:nvSpPr>
          <p:cNvPr id="13" name="Rounded Rectangle 12"/>
          <p:cNvSpPr/>
          <p:nvPr/>
        </p:nvSpPr>
        <p:spPr>
          <a:xfrm>
            <a:off x="411480" y="3246120"/>
            <a:ext cx="393192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10128"/>
            <a:ext cx="3749039" cy="1645920"/>
          </a:xfrm>
          <a:prstGeom prst="rect">
            <a:avLst/>
          </a:prstGeom>
          <a:noFill/>
        </p:spPr>
        <p:txBody>
          <a:bodyPr wrap="square" lIns="0" tIns="0" rIns="0" bIns="0">
            <a:spAutoFit/>
          </a:bodyPr>
          <a:lstStyle/>
          <a:p>
            <a:pPr>
              <a:spcAft>
                <a:spcPts val="400"/>
              </a:spcAft>
              <a:defRPr sz="819">
                <a:solidFill>
                  <a:srgbClr val="111827"/>
                </a:solidFill>
              </a:defRPr>
            </a:pPr>
            <a:r>
              <a:t>Transit Bottlenecks: Hai Van Tunnel toll fees and coastal highway bottlenecks create localized cost friction for cross-provincial deliveries.</a:t>
            </a:r>
          </a:p>
          <a:p>
            <a:pPr>
              <a:defRPr sz="819">
                <a:solidFill>
                  <a:srgbClr val="111827"/>
                </a:solidFill>
              </a:defRPr>
            </a:pPr>
            <a:r>
              <a:t>Narrow Coastal Geometry: Thin geographic width between mountains and sea creates long linear delivery routes with low drop density.</a:t>
            </a:r>
          </a:p>
        </p:txBody>
      </p:sp>
      <p:sp>
        <p:nvSpPr>
          <p:cNvPr id="15" name="Rounded Rectangle 14"/>
          <p:cNvSpPr/>
          <p:nvPr/>
        </p:nvSpPr>
        <p:spPr>
          <a:xfrm>
            <a:off x="411480" y="5120640"/>
            <a:ext cx="3931920" cy="132588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991B1B"/>
                </a:solidFill>
              </a:defRPr>
            </a:pPr>
            <a:r>
              <a:t>REGIONAL STRATEGIC MANDATE:</a:t>
            </a:r>
          </a:p>
          <a:p>
            <a:pPr>
              <a:defRPr sz="800">
                <a:solidFill>
                  <a:srgbClr val="111827"/>
                </a:solidFill>
              </a:defRPr>
            </a:pPr>
            <a:r>
              <a:t>Re-zone Lang Co to eliminate tunnel crossing costs and deploy C1 Le Thuy to capture 22 Golden Outlets in North Quang Binh.</a:t>
            </a:r>
          </a:p>
        </p:txBody>
      </p:sp>
      <p:sp>
        <p:nvSpPr>
          <p:cNvPr id="16" name="TextBox 15"/>
          <p:cNvSpPr txBox="1"/>
          <p:nvPr/>
        </p:nvSpPr>
        <p:spPr>
          <a:xfrm>
            <a:off x="4480560" y="1051560"/>
            <a:ext cx="7296912" cy="228600"/>
          </a:xfrm>
          <a:prstGeom prst="rect">
            <a:avLst/>
          </a:prstGeom>
          <a:noFill/>
        </p:spPr>
        <p:txBody>
          <a:bodyPr wrap="none">
            <a:spAutoFit/>
          </a:bodyPr>
          <a:lstStyle/>
          <a:p>
            <a:pPr>
              <a:defRPr sz="950" b="1">
                <a:solidFill>
                  <a:srgbClr val="64748B"/>
                </a:solidFill>
              </a:defRPr>
            </a:pPr>
            <a:r>
              <a:t>2. PROPOSED C1 PARTNERS: CAPTURING WHITE SPACES &amp; CUTTING REMOTE LOGISTICS</a:t>
            </a:r>
          </a:p>
        </p:txBody>
      </p:sp>
      <p:sp>
        <p:nvSpPr>
          <p:cNvPr id="17" name="Rounded Rectangle 16"/>
          <p:cNvSpPr/>
          <p:nvPr/>
        </p:nvSpPr>
        <p:spPr>
          <a:xfrm>
            <a:off x="4480560" y="1280160"/>
            <a:ext cx="7296912" cy="138988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1280160"/>
            <a:ext cx="54864" cy="138988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17720" y="1353312"/>
            <a:ext cx="1691640" cy="18288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075985"/>
                </a:solidFill>
              </a:defRPr>
            </a:pPr>
            <a:r>
              <a:t>Territory Re-Zoning</a:t>
            </a:r>
          </a:p>
        </p:txBody>
      </p:sp>
      <p:sp>
        <p:nvSpPr>
          <p:cNvPr id="20" name="TextBox 19"/>
          <p:cNvSpPr txBox="1"/>
          <p:nvPr/>
        </p:nvSpPr>
        <p:spPr>
          <a:xfrm>
            <a:off x="4617720" y="1554480"/>
            <a:ext cx="1828800" cy="1069848"/>
          </a:xfrm>
          <a:prstGeom prst="rect">
            <a:avLst/>
          </a:prstGeom>
          <a:noFill/>
        </p:spPr>
        <p:txBody>
          <a:bodyPr wrap="square" lIns="0" tIns="0" rIns="0" bIns="0">
            <a:spAutoFit/>
          </a:bodyPr>
          <a:lstStyle/>
          <a:p>
            <a:pPr>
              <a:defRPr sz="1000" b="1">
                <a:solidFill>
                  <a:srgbClr val="111827"/>
                </a:solidFill>
              </a:defRPr>
            </a:pPr>
            <a:r>
              <a:t>RE-ZONE LANG CO</a:t>
            </a:r>
          </a:p>
          <a:p>
            <a:pPr>
              <a:defRPr sz="800">
                <a:solidFill>
                  <a:srgbClr val="64748B"/>
                </a:solidFill>
              </a:defRPr>
            </a:pPr>
            <a:r>
              <a:t>Account Shift to Hue</a:t>
            </a:r>
          </a:p>
        </p:txBody>
      </p:sp>
      <p:sp>
        <p:nvSpPr>
          <p:cNvPr id="21" name="TextBox 20"/>
          <p:cNvSpPr txBox="1"/>
          <p:nvPr/>
        </p:nvSpPr>
        <p:spPr>
          <a:xfrm>
            <a:off x="6492240" y="1353312"/>
            <a:ext cx="3383280" cy="1243584"/>
          </a:xfrm>
          <a:prstGeom prst="rect">
            <a:avLst/>
          </a:prstGeom>
          <a:noFill/>
        </p:spPr>
        <p:txBody>
          <a:bodyPr wrap="square" lIns="0" tIns="0" rIns="0" bIns="0">
            <a:spAutoFit/>
          </a:bodyPr>
          <a:lstStyle/>
          <a:p>
            <a:pPr>
              <a:defRPr sz="819">
                <a:solidFill>
                  <a:srgbClr val="111827"/>
                </a:solidFill>
              </a:defRPr>
            </a:pPr>
            <a:r>
              <a:t>Transfer Lang Co retail accounts from Da Nang distributor to Hue distributor. Eliminates Hai Van Tunnel toll fees and 35km haul.</a:t>
            </a:r>
          </a:p>
        </p:txBody>
      </p:sp>
      <p:sp>
        <p:nvSpPr>
          <p:cNvPr id="22" name="Rounded Rectangle 21"/>
          <p:cNvSpPr/>
          <p:nvPr/>
        </p:nvSpPr>
        <p:spPr>
          <a:xfrm>
            <a:off x="10085832" y="1389888"/>
            <a:ext cx="1600200" cy="1170432"/>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075985"/>
                </a:solidFill>
              </a:defRPr>
            </a:pPr>
            <a:r>
              <a:t>-35 km</a:t>
            </a:r>
          </a:p>
          <a:p>
            <a:pPr algn="ctr">
              <a:defRPr sz="750">
                <a:solidFill>
                  <a:srgbClr val="64748B"/>
                </a:solidFill>
              </a:defRPr>
            </a:pPr>
            <a:r>
              <a:t>Toll Savings</a:t>
            </a:r>
          </a:p>
          <a:p>
            <a:pPr algn="ctr">
              <a:defRPr sz="800" b="1">
                <a:solidFill>
                  <a:srgbClr val="075985"/>
                </a:solidFill>
              </a:defRPr>
            </a:pPr>
            <a:r>
              <a:t>14 Accounts Transferred</a:t>
            </a:r>
          </a:p>
        </p:txBody>
      </p:sp>
      <p:sp>
        <p:nvSpPr>
          <p:cNvPr id="23" name="Rounded Rectangle 22"/>
          <p:cNvSpPr/>
          <p:nvPr/>
        </p:nvSpPr>
        <p:spPr>
          <a:xfrm>
            <a:off x="4480560" y="2743200"/>
            <a:ext cx="7296912" cy="138988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2743200"/>
            <a:ext cx="54864" cy="138988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17720" y="2816352"/>
            <a:ext cx="1691640" cy="18288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92400E"/>
                </a:solidFill>
              </a:defRPr>
            </a:pPr>
            <a:r>
              <a:t>Coastal White Space</a:t>
            </a:r>
          </a:p>
        </p:txBody>
      </p:sp>
      <p:sp>
        <p:nvSpPr>
          <p:cNvPr id="26" name="TextBox 25"/>
          <p:cNvSpPr txBox="1"/>
          <p:nvPr/>
        </p:nvSpPr>
        <p:spPr>
          <a:xfrm>
            <a:off x="4617720" y="3017520"/>
            <a:ext cx="1828800" cy="1069848"/>
          </a:xfrm>
          <a:prstGeom prst="rect">
            <a:avLst/>
          </a:prstGeom>
          <a:noFill/>
        </p:spPr>
        <p:txBody>
          <a:bodyPr wrap="square" lIns="0" tIns="0" rIns="0" bIns="0">
            <a:spAutoFit/>
          </a:bodyPr>
          <a:lstStyle/>
          <a:p>
            <a:pPr>
              <a:defRPr sz="1000" b="1">
                <a:solidFill>
                  <a:srgbClr val="111827"/>
                </a:solidFill>
              </a:defRPr>
            </a:pPr>
            <a:r>
              <a:t>C1 LE THUY</a:t>
            </a:r>
          </a:p>
          <a:p>
            <a:pPr>
              <a:defRPr sz="800">
                <a:solidFill>
                  <a:srgbClr val="64748B"/>
                </a:solidFill>
              </a:defRPr>
            </a:pPr>
            <a:r>
              <a:t>South Quang Binh</a:t>
            </a:r>
          </a:p>
        </p:txBody>
      </p:sp>
      <p:sp>
        <p:nvSpPr>
          <p:cNvPr id="27" name="TextBox 26"/>
          <p:cNvSpPr txBox="1"/>
          <p:nvPr/>
        </p:nvSpPr>
        <p:spPr>
          <a:xfrm>
            <a:off x="6492240" y="2816352"/>
            <a:ext cx="3383280" cy="1243584"/>
          </a:xfrm>
          <a:prstGeom prst="rect">
            <a:avLst/>
          </a:prstGeom>
          <a:noFill/>
        </p:spPr>
        <p:txBody>
          <a:bodyPr wrap="square" lIns="0" tIns="0" rIns="0" bIns="0">
            <a:spAutoFit/>
          </a:bodyPr>
          <a:lstStyle/>
          <a:p>
            <a:pPr>
              <a:defRPr sz="819">
                <a:solidFill>
                  <a:srgbClr val="111827"/>
                </a:solidFill>
              </a:defRPr>
            </a:pPr>
            <a:r>
              <a:t>Wholesale distributor near Kien Giang river captures 22 agricultural Golden Outlets bypassed by Dong Hoi delivery routes.</a:t>
            </a:r>
          </a:p>
        </p:txBody>
      </p:sp>
      <p:sp>
        <p:nvSpPr>
          <p:cNvPr id="28" name="Rounded Rectangle 27"/>
          <p:cNvSpPr/>
          <p:nvPr/>
        </p:nvSpPr>
        <p:spPr>
          <a:xfrm>
            <a:off x="10085832" y="2852928"/>
            <a:ext cx="1600200" cy="1170432"/>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92400E"/>
                </a:solidFill>
              </a:defRPr>
            </a:pPr>
            <a:r>
              <a:t>-45 km</a:t>
            </a:r>
          </a:p>
          <a:p>
            <a:pPr algn="ctr">
              <a:defRPr sz="750">
                <a:solidFill>
                  <a:srgbClr val="64748B"/>
                </a:solidFill>
              </a:defRPr>
            </a:pPr>
            <a:r>
              <a:t>Indirect Reach</a:t>
            </a:r>
          </a:p>
          <a:p>
            <a:pPr algn="ctr">
              <a:defRPr sz="800" b="1">
                <a:solidFill>
                  <a:srgbClr val="92400E"/>
                </a:solidFill>
              </a:defRPr>
            </a:pPr>
            <a:r>
              <a:t>22 Golden Outlets</a:t>
            </a:r>
          </a:p>
        </p:txBody>
      </p:sp>
      <p:sp>
        <p:nvSpPr>
          <p:cNvPr id="29" name="Rounded Rectangle 28"/>
          <p:cNvSpPr/>
          <p:nvPr/>
        </p:nvSpPr>
        <p:spPr>
          <a:xfrm>
            <a:off x="4480560" y="4279392"/>
            <a:ext cx="7296912" cy="658368"/>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15803D"/>
                </a:solidFill>
              </a:defRPr>
            </a:pPr>
            <a:r>
              <a:t>FIELD GOVERNANCE &amp; SUPERVISION REBALANCING:</a:t>
            </a:r>
          </a:p>
          <a:p>
            <a:pPr>
              <a:defRPr sz="800">
                <a:solidFill>
                  <a:srgbClr val="111827"/>
                </a:solidFill>
              </a:defRPr>
            </a:pPr>
            <a:r>
              <a:t>Full Sales Manager coverage in place. Monitor distributor territory boundaries to prevent cross-border discounting between Da Nang and Quang Nam.</a:t>
            </a:r>
          </a:p>
        </p:txBody>
      </p:sp>
      <p:sp>
        <p:nvSpPr>
          <p:cNvPr id="30" name="TextBox 29"/>
          <p:cNvSpPr txBox="1"/>
          <p:nvPr/>
        </p:nvSpPr>
        <p:spPr>
          <a:xfrm>
            <a:off x="4480560" y="5029200"/>
            <a:ext cx="7296912" cy="182880"/>
          </a:xfrm>
          <a:prstGeom prst="rect">
            <a:avLst/>
          </a:prstGeom>
          <a:noFill/>
        </p:spPr>
        <p:txBody>
          <a:bodyPr wrap="none">
            <a:spAutoFit/>
          </a:bodyPr>
          <a:lstStyle/>
          <a:p>
            <a:pPr>
              <a:defRPr sz="850" b="1">
                <a:solidFill>
                  <a:srgbClr val="64748B"/>
                </a:solidFill>
              </a:defRPr>
            </a:pPr>
            <a:r>
              <a:t>EXECUTION ARCHITECTURE • 4 REGIONAL IMPLEMENTATION STEPS</a:t>
            </a:r>
          </a:p>
        </p:txBody>
      </p:sp>
      <p:sp>
        <p:nvSpPr>
          <p:cNvPr id="31" name="Rounded Rectangle 30"/>
          <p:cNvSpPr/>
          <p:nvPr/>
        </p:nvSpPr>
        <p:spPr>
          <a:xfrm>
            <a:off x="4480560"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53712"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1. Territory Re-Zoning</a:t>
            </a:r>
          </a:p>
          <a:p>
            <a:pPr>
              <a:defRPr sz="800">
                <a:solidFill>
                  <a:srgbClr val="64748B"/>
                </a:solidFill>
              </a:defRPr>
            </a:pPr>
            <a:r>
              <a:t>Execute formal account transfer of Lang Co to Hue distributor in Month 1.</a:t>
            </a:r>
          </a:p>
        </p:txBody>
      </p:sp>
      <p:sp>
        <p:nvSpPr>
          <p:cNvPr id="33" name="Rounded Rectangle 32"/>
          <p:cNvSpPr/>
          <p:nvPr/>
        </p:nvSpPr>
        <p:spPr>
          <a:xfrm>
            <a:off x="6327648"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2. C1 Contract</a:t>
            </a:r>
          </a:p>
          <a:p>
            <a:pPr>
              <a:defRPr sz="800">
                <a:solidFill>
                  <a:srgbClr val="64748B"/>
                </a:solidFill>
              </a:defRPr>
            </a:pPr>
            <a:r>
              <a:t>Establish C1 partnership in Le Thuy for bulk distribution.</a:t>
            </a:r>
          </a:p>
        </p:txBody>
      </p:sp>
      <p:sp>
        <p:nvSpPr>
          <p:cNvPr id="35" name="Rounded Rectangle 34"/>
          <p:cNvSpPr/>
          <p:nvPr/>
        </p:nvSpPr>
        <p:spPr>
          <a:xfrm>
            <a:off x="8174736"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7888"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3. Logistics Schedule</a:t>
            </a:r>
          </a:p>
          <a:p>
            <a:pPr>
              <a:defRPr sz="800">
                <a:solidFill>
                  <a:srgbClr val="64748B"/>
                </a:solidFill>
              </a:defRPr>
            </a:pPr>
            <a:r>
              <a:t>Consolidate Da Nang and Quang Nam delivery routes to alternate delivery days.</a:t>
            </a:r>
          </a:p>
        </p:txBody>
      </p:sp>
      <p:sp>
        <p:nvSpPr>
          <p:cNvPr id="37" name="Rounded Rectangle 36"/>
          <p:cNvSpPr/>
          <p:nvPr/>
        </p:nvSpPr>
        <p:spPr>
          <a:xfrm>
            <a:off x="10021824"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4976"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4. Trade Execution</a:t>
            </a:r>
          </a:p>
          <a:p>
            <a:pPr>
              <a:defRPr sz="800">
                <a:solidFill>
                  <a:srgbClr val="64748B"/>
                </a:solidFill>
              </a:defRPr>
            </a:pPr>
            <a:r>
              <a:t>Place premium branded display stands and freezers in top 80 tourist retail outlets.</a:t>
            </a:r>
          </a:p>
        </p:txBody>
      </p:sp>
      <p:sp>
        <p:nvSpPr>
          <p:cNvPr id="39" name="TextBox 38"/>
          <p:cNvSpPr txBox="1"/>
          <p:nvPr/>
        </p:nvSpPr>
        <p:spPr>
          <a:xfrm>
            <a:off x="411480" y="6565392"/>
            <a:ext cx="11365992" cy="201168"/>
          </a:xfrm>
          <a:prstGeom prst="rect">
            <a:avLst/>
          </a:prstGeom>
          <a:noFill/>
        </p:spPr>
        <p:txBody>
          <a:bodyPr wrap="none" lIns="0" tIns="0" rIns="0" bIns="0">
            <a:spAutoFit/>
          </a:bodyPr>
          <a:lstStyle/>
          <a:p>
            <a:pPr>
              <a:defRPr sz="850">
                <a:solidFill>
                  <a:srgbClr val="94A3B8"/>
                </a:solidFill>
              </a:defRPr>
            </a:pPr>
            <a:r>
              <a:t>* Da Nang RTM plan re-zones Lang Co and deploys C1 Le Thuy, lowering regional logistics cost by ~650M VND.   •   Confidential • CJ Foods Vietnam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9326880" cy="502920"/>
          </a:xfrm>
          <a:prstGeom prst="rect">
            <a:avLst/>
          </a:prstGeom>
          <a:noFill/>
        </p:spPr>
        <p:txBody>
          <a:bodyPr wrap="square" lIns="0" tIns="0" rIns="0" bIns="0">
            <a:spAutoFit/>
          </a:bodyPr>
          <a:lstStyle/>
          <a:p>
            <a:pPr>
              <a:defRPr sz="2000" b="1">
                <a:solidFill>
                  <a:srgbClr val="111827"/>
                </a:solidFill>
              </a:defRPr>
            </a:pPr>
            <a:r>
              <a:t>HCMC Region 2027: Zero C1 Policy &amp; In-Filling 674 High-Density Golden Outlets</a:t>
            </a:r>
          </a:p>
        </p:txBody>
      </p:sp>
      <p:sp>
        <p:nvSpPr>
          <p:cNvPr id="4" name="Rounded Rectangle 3"/>
          <p:cNvSpPr/>
          <p:nvPr/>
        </p:nvSpPr>
        <p:spPr>
          <a:xfrm>
            <a:off x="9601200" y="256032"/>
            <a:ext cx="2194560" cy="29260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75985"/>
                </a:solidFill>
              </a:defRPr>
            </a:pPr>
            <a:r>
              <a:t>REGION: HO CHI MINH CITY</a:t>
            </a:r>
          </a:p>
        </p:txBody>
      </p:sp>
      <p:sp>
        <p:nvSpPr>
          <p:cNvPr id="5" name="TextBox 4"/>
          <p:cNvSpPr txBox="1"/>
          <p:nvPr/>
        </p:nvSpPr>
        <p:spPr>
          <a:xfrm>
            <a:off x="411480" y="749808"/>
            <a:ext cx="11338560" cy="228600"/>
          </a:xfrm>
          <a:prstGeom prst="rect">
            <a:avLst/>
          </a:prstGeom>
          <a:noFill/>
        </p:spPr>
        <p:txBody>
          <a:bodyPr wrap="none" lIns="0" tIns="0" rIns="0" bIns="0">
            <a:spAutoFit/>
          </a:bodyPr>
          <a:lstStyle/>
          <a:p>
            <a:pPr>
              <a:defRPr sz="919" b="1">
                <a:solidFill>
                  <a:srgbClr val="64748B"/>
                </a:solidFill>
              </a:defRPr>
            </a:pPr>
            <a:r>
              <a:t>REGIONAL RTM BLUEPRINT • 35 ACTIVE DISTRIBUTORS • OPTIMAL URBAN DENSITY &amp; SALES MANAGEMENT REDEPLOYMENT</a:t>
            </a:r>
          </a:p>
        </p:txBody>
      </p:sp>
      <p:sp>
        <p:nvSpPr>
          <p:cNvPr id="6" name="TextBox 5"/>
          <p:cNvSpPr txBox="1"/>
          <p:nvPr/>
        </p:nvSpPr>
        <p:spPr>
          <a:xfrm>
            <a:off x="411480" y="1051560"/>
            <a:ext cx="3931920" cy="228600"/>
          </a:xfrm>
          <a:prstGeom prst="rect">
            <a:avLst/>
          </a:prstGeom>
          <a:noFill/>
        </p:spPr>
        <p:txBody>
          <a:bodyPr wrap="none">
            <a:spAutoFit/>
          </a:bodyPr>
          <a:lstStyle/>
          <a:p>
            <a:pPr>
              <a:defRPr sz="950" b="1">
                <a:solidFill>
                  <a:srgbClr val="64748B"/>
                </a:solidFill>
              </a:defRPr>
            </a:pPr>
            <a:r>
              <a:t>1. CURRENT RTM DIAGNOSTIC &amp; WHITE SPACE VOIDS</a:t>
            </a:r>
          </a:p>
        </p:txBody>
      </p:sp>
      <p:sp>
        <p:nvSpPr>
          <p:cNvPr id="7" name="Rounded Rectangle 6"/>
          <p:cNvSpPr/>
          <p:nvPr/>
        </p:nvSpPr>
        <p:spPr>
          <a:xfrm>
            <a:off x="411480" y="1280160"/>
            <a:ext cx="1874519"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53312"/>
            <a:ext cx="1655063" cy="768096"/>
          </a:xfrm>
          <a:prstGeom prst="rect">
            <a:avLst/>
          </a:prstGeom>
          <a:noFill/>
        </p:spPr>
        <p:txBody>
          <a:bodyPr wrap="square" lIns="0" tIns="0" rIns="0" bIns="0">
            <a:spAutoFit/>
          </a:bodyPr>
          <a:lstStyle/>
          <a:p>
            <a:pPr>
              <a:spcAft>
                <a:spcPts val="200"/>
              </a:spcAft>
              <a:defRPr sz="1700" b="1">
                <a:solidFill>
                  <a:srgbClr val="DC2626"/>
                </a:solidFill>
              </a:defRPr>
            </a:pPr>
            <a:r>
              <a:t>6.2 km</a:t>
            </a:r>
          </a:p>
          <a:p>
            <a:pPr>
              <a:defRPr sz="900" b="1">
                <a:solidFill>
                  <a:srgbClr val="111827"/>
                </a:solidFill>
              </a:defRPr>
            </a:pPr>
            <a:r>
              <a:t>Avg Drop Distance</a:t>
            </a:r>
          </a:p>
          <a:p>
            <a:pPr>
              <a:defRPr sz="800">
                <a:solidFill>
                  <a:srgbClr val="64748B"/>
                </a:solidFill>
              </a:defRPr>
            </a:pPr>
            <a:r>
              <a:t>Best density nationwide</a:t>
            </a:r>
          </a:p>
        </p:txBody>
      </p:sp>
      <p:sp>
        <p:nvSpPr>
          <p:cNvPr id="9" name="Rounded Rectangle 8"/>
          <p:cNvSpPr/>
          <p:nvPr/>
        </p:nvSpPr>
        <p:spPr>
          <a:xfrm>
            <a:off x="2377440" y="1280160"/>
            <a:ext cx="196596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7168" y="1353312"/>
            <a:ext cx="1746504" cy="768096"/>
          </a:xfrm>
          <a:prstGeom prst="rect">
            <a:avLst/>
          </a:prstGeom>
          <a:noFill/>
        </p:spPr>
        <p:txBody>
          <a:bodyPr wrap="square" lIns="0" tIns="0" rIns="0" bIns="0">
            <a:spAutoFit/>
          </a:bodyPr>
          <a:lstStyle/>
          <a:p>
            <a:pPr>
              <a:spcAft>
                <a:spcPts val="200"/>
              </a:spcAft>
              <a:defRPr sz="1700" b="1">
                <a:solidFill>
                  <a:srgbClr val="DC2626"/>
                </a:solidFill>
              </a:defRPr>
            </a:pPr>
            <a:r>
              <a:t>0</a:t>
            </a:r>
          </a:p>
          <a:p>
            <a:pPr>
              <a:defRPr sz="900" b="1">
                <a:solidFill>
                  <a:srgbClr val="111827"/>
                </a:solidFill>
              </a:defRPr>
            </a:pPr>
            <a:r>
              <a:t>Drops &gt;45km</a:t>
            </a:r>
          </a:p>
          <a:p>
            <a:pPr>
              <a:defRPr sz="800">
                <a:solidFill>
                  <a:srgbClr val="64748B"/>
                </a:solidFill>
              </a:defRPr>
            </a:pPr>
            <a:r>
              <a:t>Zero remote drops</a:t>
            </a:r>
          </a:p>
        </p:txBody>
      </p:sp>
      <p:sp>
        <p:nvSpPr>
          <p:cNvPr id="11" name="Rounded Rectangle 10"/>
          <p:cNvSpPr/>
          <p:nvPr/>
        </p:nvSpPr>
        <p:spPr>
          <a:xfrm>
            <a:off x="411480" y="2286000"/>
            <a:ext cx="393192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359152"/>
            <a:ext cx="3712464" cy="722376"/>
          </a:xfrm>
          <a:prstGeom prst="rect">
            <a:avLst/>
          </a:prstGeom>
          <a:noFill/>
        </p:spPr>
        <p:txBody>
          <a:bodyPr wrap="square" lIns="0" tIns="0" rIns="0" bIns="0">
            <a:spAutoFit/>
          </a:bodyPr>
          <a:lstStyle/>
          <a:p>
            <a:pPr>
              <a:spcAft>
                <a:spcPts val="200"/>
              </a:spcAft>
              <a:defRPr sz="1700" b="1">
                <a:solidFill>
                  <a:srgbClr val="D97706"/>
                </a:solidFill>
              </a:defRPr>
            </a:pPr>
            <a:r>
              <a:t>32.0 km Max Urban Run</a:t>
            </a:r>
          </a:p>
          <a:p>
            <a:pPr>
              <a:defRPr sz="900" b="1">
                <a:solidFill>
                  <a:srgbClr val="111827"/>
                </a:solidFill>
              </a:defRPr>
            </a:pPr>
            <a:r>
              <a:t>Cu Chi Peripheral Delivery</a:t>
            </a:r>
          </a:p>
          <a:p>
            <a:pPr>
              <a:defRPr sz="800">
                <a:solidFill>
                  <a:srgbClr val="64748B"/>
                </a:solidFill>
              </a:defRPr>
            </a:pPr>
            <a:r>
              <a:t>Dense urban delivery grid</a:t>
            </a:r>
          </a:p>
        </p:txBody>
      </p:sp>
      <p:sp>
        <p:nvSpPr>
          <p:cNvPr id="13" name="Rounded Rectangle 12"/>
          <p:cNvSpPr/>
          <p:nvPr/>
        </p:nvSpPr>
        <p:spPr>
          <a:xfrm>
            <a:off x="411480" y="3246120"/>
            <a:ext cx="3931920" cy="1783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10128"/>
            <a:ext cx="3749039" cy="1645920"/>
          </a:xfrm>
          <a:prstGeom prst="rect">
            <a:avLst/>
          </a:prstGeom>
          <a:noFill/>
        </p:spPr>
        <p:txBody>
          <a:bodyPr wrap="square" lIns="0" tIns="0" rIns="0" bIns="0">
            <a:spAutoFit/>
          </a:bodyPr>
          <a:lstStyle/>
          <a:p>
            <a:pPr>
              <a:spcAft>
                <a:spcPts val="400"/>
              </a:spcAft>
              <a:defRPr sz="819">
                <a:solidFill>
                  <a:srgbClr val="111827"/>
                </a:solidFill>
              </a:defRPr>
            </a:pPr>
            <a:r>
              <a:t>Optimal Network Density: Average drop distance of 6.2km is best-in-class nationwide. Zero delivery runs exceed the 45km threshold.</a:t>
            </a:r>
          </a:p>
          <a:p>
            <a:pPr>
              <a:defRPr sz="819">
                <a:solidFill>
                  <a:srgbClr val="111827"/>
                </a:solidFill>
              </a:defRPr>
            </a:pPr>
            <a:r>
              <a:t>Surplus Management Capacity: 35 distributors operate in tight geographic clusters, allowing 1 Sales Manager to easily oversee 2 partner distributors.</a:t>
            </a:r>
          </a:p>
        </p:txBody>
      </p:sp>
      <p:sp>
        <p:nvSpPr>
          <p:cNvPr id="15" name="Rounded Rectangle 14"/>
          <p:cNvSpPr/>
          <p:nvPr/>
        </p:nvSpPr>
        <p:spPr>
          <a:xfrm>
            <a:off x="411480" y="5120640"/>
            <a:ext cx="3931920" cy="132588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991B1B"/>
                </a:solidFill>
              </a:defRPr>
            </a:pPr>
            <a:r>
              <a:t>REGIONAL STRATEGIC MANDATE:</a:t>
            </a:r>
          </a:p>
          <a:p>
            <a:pPr>
              <a:defRPr sz="800">
                <a:solidFill>
                  <a:srgbClr val="111827"/>
                </a:solidFill>
              </a:defRPr>
            </a:pPr>
            <a:r>
              <a:t>Maintain Zero C1 policy, reallocate 4 surplus Sales Managers to Mekong Delta, and in-fill 674 urban Golden Outlets.</a:t>
            </a:r>
          </a:p>
        </p:txBody>
      </p:sp>
      <p:sp>
        <p:nvSpPr>
          <p:cNvPr id="16" name="TextBox 15"/>
          <p:cNvSpPr txBox="1"/>
          <p:nvPr/>
        </p:nvSpPr>
        <p:spPr>
          <a:xfrm>
            <a:off x="4480560" y="1051560"/>
            <a:ext cx="7296912" cy="228600"/>
          </a:xfrm>
          <a:prstGeom prst="rect">
            <a:avLst/>
          </a:prstGeom>
          <a:noFill/>
        </p:spPr>
        <p:txBody>
          <a:bodyPr wrap="none">
            <a:spAutoFit/>
          </a:bodyPr>
          <a:lstStyle/>
          <a:p>
            <a:pPr>
              <a:defRPr sz="950" b="1">
                <a:solidFill>
                  <a:srgbClr val="64748B"/>
                </a:solidFill>
              </a:defRPr>
            </a:pPr>
            <a:r>
              <a:t>2. PROPOSED C1 PARTNERS: CAPTURING WHITE SPACES &amp; CUTTING REMOTE LOGISTICS</a:t>
            </a:r>
          </a:p>
        </p:txBody>
      </p:sp>
      <p:sp>
        <p:nvSpPr>
          <p:cNvPr id="17" name="Rounded Rectangle 16"/>
          <p:cNvSpPr/>
          <p:nvPr/>
        </p:nvSpPr>
        <p:spPr>
          <a:xfrm>
            <a:off x="4480560" y="128016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60" y="1280160"/>
            <a:ext cx="54864" cy="9022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17720" y="1353312"/>
            <a:ext cx="1691640" cy="182880"/>
          </a:xfrm>
          <a:prstGeom prst="round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6D28D9"/>
                </a:solidFill>
              </a:defRPr>
            </a:pPr>
            <a:r>
              <a:t>High-Density In-Fill</a:t>
            </a:r>
          </a:p>
        </p:txBody>
      </p:sp>
      <p:sp>
        <p:nvSpPr>
          <p:cNvPr id="20" name="TextBox 19"/>
          <p:cNvSpPr txBox="1"/>
          <p:nvPr/>
        </p:nvSpPr>
        <p:spPr>
          <a:xfrm>
            <a:off x="4617720" y="1554480"/>
            <a:ext cx="1828800" cy="582168"/>
          </a:xfrm>
          <a:prstGeom prst="rect">
            <a:avLst/>
          </a:prstGeom>
          <a:noFill/>
        </p:spPr>
        <p:txBody>
          <a:bodyPr wrap="square" lIns="0" tIns="0" rIns="0" bIns="0">
            <a:spAutoFit/>
          </a:bodyPr>
          <a:lstStyle/>
          <a:p>
            <a:pPr>
              <a:defRPr sz="1000" b="1">
                <a:solidFill>
                  <a:srgbClr val="111827"/>
                </a:solidFill>
              </a:defRPr>
            </a:pPr>
            <a:r>
              <a:t>IN-FILL 674 GOLDEN OUTLETS</a:t>
            </a:r>
          </a:p>
          <a:p>
            <a:pPr>
              <a:defRPr sz="800">
                <a:solidFill>
                  <a:srgbClr val="64748B"/>
                </a:solidFill>
              </a:defRPr>
            </a:pPr>
            <a:r>
              <a:t>Within 15km Radius</a:t>
            </a:r>
          </a:p>
        </p:txBody>
      </p:sp>
      <p:sp>
        <p:nvSpPr>
          <p:cNvPr id="21" name="TextBox 20"/>
          <p:cNvSpPr txBox="1"/>
          <p:nvPr/>
        </p:nvSpPr>
        <p:spPr>
          <a:xfrm>
            <a:off x="6492240" y="1353312"/>
            <a:ext cx="3383280" cy="755904"/>
          </a:xfrm>
          <a:prstGeom prst="rect">
            <a:avLst/>
          </a:prstGeom>
          <a:noFill/>
        </p:spPr>
        <p:txBody>
          <a:bodyPr wrap="square" lIns="0" tIns="0" rIns="0" bIns="0">
            <a:spAutoFit/>
          </a:bodyPr>
          <a:lstStyle/>
          <a:p>
            <a:pPr>
              <a:defRPr sz="819">
                <a:solidFill>
                  <a:srgbClr val="111827"/>
                </a:solidFill>
              </a:defRPr>
            </a:pPr>
            <a:r>
              <a:t>In-fill 674 verified high-volume retail stores into existing DSR Master Coverage Plans with zero added vehicle cost.</a:t>
            </a:r>
          </a:p>
        </p:txBody>
      </p:sp>
      <p:sp>
        <p:nvSpPr>
          <p:cNvPr id="22" name="Rounded Rectangle 21"/>
          <p:cNvSpPr/>
          <p:nvPr/>
        </p:nvSpPr>
        <p:spPr>
          <a:xfrm>
            <a:off x="10085832" y="1389888"/>
            <a:ext cx="1600200" cy="682752"/>
          </a:xfrm>
          <a:prstGeom prst="roundRect">
            <a:avLst/>
          </a:prstGeom>
          <a:solidFill>
            <a:srgbClr val="EDE9FE"/>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6D28D9"/>
                </a:solidFill>
              </a:defRPr>
            </a:pPr>
            <a:r>
              <a:t>+6.8B</a:t>
            </a:r>
          </a:p>
          <a:p>
            <a:pPr algn="ctr">
              <a:defRPr sz="750">
                <a:solidFill>
                  <a:srgbClr val="64748B"/>
                </a:solidFill>
              </a:defRPr>
            </a:pPr>
            <a:r>
              <a:t>Revenue Target</a:t>
            </a:r>
          </a:p>
          <a:p>
            <a:pPr algn="ctr">
              <a:defRPr sz="800" b="1">
                <a:solidFill>
                  <a:srgbClr val="6D28D9"/>
                </a:solidFill>
              </a:defRPr>
            </a:pPr>
            <a:r>
              <a:t>674 Golden Outlets</a:t>
            </a:r>
          </a:p>
        </p:txBody>
      </p:sp>
      <p:sp>
        <p:nvSpPr>
          <p:cNvPr id="23" name="Rounded Rectangle 22"/>
          <p:cNvSpPr/>
          <p:nvPr/>
        </p:nvSpPr>
        <p:spPr>
          <a:xfrm>
            <a:off x="4480560" y="225552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60" y="2255520"/>
            <a:ext cx="54864" cy="90220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17720" y="2328672"/>
            <a:ext cx="1691640" cy="182880"/>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15803D"/>
                </a:solidFill>
              </a:defRPr>
            </a:pPr>
            <a:r>
              <a:t>Sales Rebalancing</a:t>
            </a:r>
          </a:p>
        </p:txBody>
      </p:sp>
      <p:sp>
        <p:nvSpPr>
          <p:cNvPr id="26" name="TextBox 25"/>
          <p:cNvSpPr txBox="1"/>
          <p:nvPr/>
        </p:nvSpPr>
        <p:spPr>
          <a:xfrm>
            <a:off x="4617720" y="2529840"/>
            <a:ext cx="1828800" cy="582168"/>
          </a:xfrm>
          <a:prstGeom prst="rect">
            <a:avLst/>
          </a:prstGeom>
          <a:noFill/>
        </p:spPr>
        <p:txBody>
          <a:bodyPr wrap="square" lIns="0" tIns="0" rIns="0" bIns="0">
            <a:spAutoFit/>
          </a:bodyPr>
          <a:lstStyle/>
          <a:p>
            <a:pPr>
              <a:defRPr sz="1000" b="1">
                <a:solidFill>
                  <a:srgbClr val="111827"/>
                </a:solidFill>
              </a:defRPr>
            </a:pPr>
            <a:r>
              <a:t>TRANSFER 4 SALES MANAGERS</a:t>
            </a:r>
          </a:p>
          <a:p>
            <a:pPr>
              <a:defRPr sz="800">
                <a:solidFill>
                  <a:srgbClr val="64748B"/>
                </a:solidFill>
              </a:defRPr>
            </a:pPr>
            <a:r>
              <a:t>Reallocated to Mekong Delta</a:t>
            </a:r>
          </a:p>
        </p:txBody>
      </p:sp>
      <p:sp>
        <p:nvSpPr>
          <p:cNvPr id="27" name="TextBox 26"/>
          <p:cNvSpPr txBox="1"/>
          <p:nvPr/>
        </p:nvSpPr>
        <p:spPr>
          <a:xfrm>
            <a:off x="6492240" y="2328672"/>
            <a:ext cx="3383280" cy="755904"/>
          </a:xfrm>
          <a:prstGeom prst="rect">
            <a:avLst/>
          </a:prstGeom>
          <a:noFill/>
        </p:spPr>
        <p:txBody>
          <a:bodyPr wrap="square" lIns="0" tIns="0" rIns="0" bIns="0">
            <a:spAutoFit/>
          </a:bodyPr>
          <a:lstStyle/>
          <a:p>
            <a:pPr>
              <a:defRPr sz="819">
                <a:solidFill>
                  <a:srgbClr val="111827"/>
                </a:solidFill>
              </a:defRPr>
            </a:pPr>
            <a:r>
              <a:t>Consolidate urban distributor supervision. Transfer 4 experienced Sales Managers to staff unmanaged Top 50 distributors in Mekong.</a:t>
            </a:r>
          </a:p>
        </p:txBody>
      </p:sp>
      <p:sp>
        <p:nvSpPr>
          <p:cNvPr id="28" name="Rounded Rectangle 27"/>
          <p:cNvSpPr/>
          <p:nvPr/>
        </p:nvSpPr>
        <p:spPr>
          <a:xfrm>
            <a:off x="10085832" y="2365248"/>
            <a:ext cx="1600200" cy="682752"/>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15803D"/>
                </a:solidFill>
              </a:defRPr>
            </a:pPr>
            <a:r>
              <a:t>0 VND</a:t>
            </a:r>
          </a:p>
          <a:p>
            <a:pPr algn="ctr">
              <a:defRPr sz="750">
                <a:solidFill>
                  <a:srgbClr val="64748B"/>
                </a:solidFill>
              </a:defRPr>
            </a:pPr>
            <a:r>
              <a:t>Headcount Cost</a:t>
            </a:r>
          </a:p>
          <a:p>
            <a:pPr algn="ctr">
              <a:defRPr sz="800" b="1">
                <a:solidFill>
                  <a:srgbClr val="15803D"/>
                </a:solidFill>
              </a:defRPr>
            </a:pPr>
            <a:r>
              <a:t>4 Distributors Supervised</a:t>
            </a:r>
          </a:p>
        </p:txBody>
      </p:sp>
      <p:sp>
        <p:nvSpPr>
          <p:cNvPr id="29" name="Rounded Rectangle 28"/>
          <p:cNvSpPr/>
          <p:nvPr/>
        </p:nvSpPr>
        <p:spPr>
          <a:xfrm>
            <a:off x="4480560" y="3230880"/>
            <a:ext cx="7296912" cy="902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80560" y="3230880"/>
            <a:ext cx="54864" cy="90220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17720" y="3304032"/>
            <a:ext cx="1691640" cy="18288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50" b="1">
                <a:solidFill>
                  <a:srgbClr val="075985"/>
                </a:solidFill>
              </a:defRPr>
            </a:pPr>
            <a:r>
              <a:t>Fleet Innovation</a:t>
            </a:r>
          </a:p>
        </p:txBody>
      </p:sp>
      <p:sp>
        <p:nvSpPr>
          <p:cNvPr id="32" name="TextBox 31"/>
          <p:cNvSpPr txBox="1"/>
          <p:nvPr/>
        </p:nvSpPr>
        <p:spPr>
          <a:xfrm>
            <a:off x="4617720" y="3505200"/>
            <a:ext cx="1828800" cy="582168"/>
          </a:xfrm>
          <a:prstGeom prst="rect">
            <a:avLst/>
          </a:prstGeom>
          <a:noFill/>
        </p:spPr>
        <p:txBody>
          <a:bodyPr wrap="square" lIns="0" tIns="0" rIns="0" bIns="0">
            <a:spAutoFit/>
          </a:bodyPr>
          <a:lstStyle/>
          <a:p>
            <a:pPr>
              <a:defRPr sz="1000" b="1">
                <a:solidFill>
                  <a:srgbClr val="111827"/>
                </a:solidFill>
              </a:defRPr>
            </a:pPr>
            <a:r>
              <a:t>COLD-BOX MOTORBIKE FLEET</a:t>
            </a:r>
          </a:p>
          <a:p>
            <a:pPr>
              <a:defRPr sz="800">
                <a:solidFill>
                  <a:srgbClr val="64748B"/>
                </a:solidFill>
              </a:defRPr>
            </a:pPr>
            <a:r>
              <a:t>Urban Alley Logistics</a:t>
            </a:r>
          </a:p>
        </p:txBody>
      </p:sp>
      <p:sp>
        <p:nvSpPr>
          <p:cNvPr id="33" name="TextBox 32"/>
          <p:cNvSpPr txBox="1"/>
          <p:nvPr/>
        </p:nvSpPr>
        <p:spPr>
          <a:xfrm>
            <a:off x="6492240" y="3304032"/>
            <a:ext cx="3383280" cy="755904"/>
          </a:xfrm>
          <a:prstGeom prst="rect">
            <a:avLst/>
          </a:prstGeom>
          <a:noFill/>
        </p:spPr>
        <p:txBody>
          <a:bodyPr wrap="square" lIns="0" tIns="0" rIns="0" bIns="0">
            <a:spAutoFit/>
          </a:bodyPr>
          <a:lstStyle/>
          <a:p>
            <a:pPr>
              <a:defRPr sz="819">
                <a:solidFill>
                  <a:srgbClr val="111827"/>
                </a:solidFill>
              </a:defRPr>
            </a:pPr>
            <a:r>
              <a:t>Deploy insulated electric motorbike cold-boxes for high-frequency small drops into narrow alleys in Districts 3, 5, 10, and Binh Thanh.</a:t>
            </a:r>
          </a:p>
        </p:txBody>
      </p:sp>
      <p:sp>
        <p:nvSpPr>
          <p:cNvPr id="34" name="Rounded Rectangle 33"/>
          <p:cNvSpPr/>
          <p:nvPr/>
        </p:nvSpPr>
        <p:spPr>
          <a:xfrm>
            <a:off x="10085832" y="3340608"/>
            <a:ext cx="1600200" cy="682752"/>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300" b="1">
                <a:solidFill>
                  <a:srgbClr val="075985"/>
                </a:solidFill>
              </a:defRPr>
            </a:pPr>
            <a:r>
              <a:t>-18°C</a:t>
            </a:r>
          </a:p>
          <a:p>
            <a:pPr algn="ctr">
              <a:defRPr sz="750">
                <a:solidFill>
                  <a:srgbClr val="64748B"/>
                </a:solidFill>
              </a:defRPr>
            </a:pPr>
            <a:r>
              <a:t>Alley Navigation</a:t>
            </a:r>
          </a:p>
          <a:p>
            <a:pPr algn="ctr">
              <a:defRPr sz="800" b="1">
                <a:solidFill>
                  <a:srgbClr val="075985"/>
                </a:solidFill>
              </a:defRPr>
            </a:pPr>
            <a:r>
              <a:t>Zero Thawing Risk</a:t>
            </a:r>
          </a:p>
        </p:txBody>
      </p:sp>
      <p:sp>
        <p:nvSpPr>
          <p:cNvPr id="35" name="Rounded Rectangle 34"/>
          <p:cNvSpPr/>
          <p:nvPr/>
        </p:nvSpPr>
        <p:spPr>
          <a:xfrm>
            <a:off x="4480560" y="4279392"/>
            <a:ext cx="7296912" cy="658368"/>
          </a:xfrm>
          <a:prstGeom prst="roundRect">
            <a:avLst/>
          </a:prstGeom>
          <a:solidFill>
            <a:srgbClr val="DCFCE7"/>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rIns="73152" bIns="73152"/>
          <a:lstStyle/>
          <a:p>
            <a:pPr algn="ctr">
              <a:defRPr sz="850" b="1">
                <a:solidFill>
                  <a:srgbClr val="15803D"/>
                </a:solidFill>
              </a:defRPr>
            </a:pPr>
            <a:r>
              <a:t>FIELD GOVERNANCE &amp; SUPERVISION REBALANCING:</a:t>
            </a:r>
          </a:p>
          <a:p>
            <a:pPr>
              <a:defRPr sz="800">
                <a:solidFill>
                  <a:srgbClr val="111827"/>
                </a:solidFill>
              </a:defRPr>
            </a:pPr>
            <a:r>
              <a:t>Consolidate HCMC field management structure; enforce strict GPS visit duration verification on DMS.</a:t>
            </a:r>
          </a:p>
        </p:txBody>
      </p:sp>
      <p:sp>
        <p:nvSpPr>
          <p:cNvPr id="36" name="TextBox 35"/>
          <p:cNvSpPr txBox="1"/>
          <p:nvPr/>
        </p:nvSpPr>
        <p:spPr>
          <a:xfrm>
            <a:off x="4480560" y="5029200"/>
            <a:ext cx="7296912" cy="182880"/>
          </a:xfrm>
          <a:prstGeom prst="rect">
            <a:avLst/>
          </a:prstGeom>
          <a:noFill/>
        </p:spPr>
        <p:txBody>
          <a:bodyPr wrap="none">
            <a:spAutoFit/>
          </a:bodyPr>
          <a:lstStyle/>
          <a:p>
            <a:pPr>
              <a:defRPr sz="850" b="1">
                <a:solidFill>
                  <a:srgbClr val="64748B"/>
                </a:solidFill>
              </a:defRPr>
            </a:pPr>
            <a:r>
              <a:t>EXECUTION ARCHITECTURE • 4 REGIONAL IMPLEMENTATION STEPS</a:t>
            </a:r>
          </a:p>
        </p:txBody>
      </p:sp>
      <p:sp>
        <p:nvSpPr>
          <p:cNvPr id="37" name="Rounded Rectangle 36"/>
          <p:cNvSpPr/>
          <p:nvPr/>
        </p:nvSpPr>
        <p:spPr>
          <a:xfrm>
            <a:off x="4480560"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53712"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1. Outlet In-Fill</a:t>
            </a:r>
          </a:p>
          <a:p>
            <a:pPr>
              <a:defRPr sz="800">
                <a:solidFill>
                  <a:srgbClr val="64748B"/>
                </a:solidFill>
              </a:defRPr>
            </a:pPr>
            <a:r>
              <a:t>Add 3 to 5 verified Golden Outlets per urban sales beat starting in Month 1.</a:t>
            </a:r>
          </a:p>
        </p:txBody>
      </p:sp>
      <p:sp>
        <p:nvSpPr>
          <p:cNvPr id="39" name="Rounded Rectangle 38"/>
          <p:cNvSpPr/>
          <p:nvPr/>
        </p:nvSpPr>
        <p:spPr>
          <a:xfrm>
            <a:off x="6327648"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2. Sales Rebalancing</a:t>
            </a:r>
          </a:p>
          <a:p>
            <a:pPr>
              <a:defRPr sz="800">
                <a:solidFill>
                  <a:srgbClr val="64748B"/>
                </a:solidFill>
              </a:defRPr>
            </a:pPr>
            <a:r>
              <a:t>Transfer 4 Sales Managers to Mekong Delta to secure Top 50 distributor governance.</a:t>
            </a:r>
          </a:p>
        </p:txBody>
      </p:sp>
      <p:sp>
        <p:nvSpPr>
          <p:cNvPr id="41" name="Rounded Rectangle 40"/>
          <p:cNvSpPr/>
          <p:nvPr/>
        </p:nvSpPr>
        <p:spPr>
          <a:xfrm>
            <a:off x="8174736"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7888"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3. Fleet Innovation</a:t>
            </a:r>
          </a:p>
          <a:p>
            <a:pPr>
              <a:defRPr sz="800">
                <a:solidFill>
                  <a:srgbClr val="64748B"/>
                </a:solidFill>
              </a:defRPr>
            </a:pPr>
            <a:r>
              <a:t>Pilot insulated electric motorbike fleet for urban alley delivery.</a:t>
            </a:r>
          </a:p>
        </p:txBody>
      </p:sp>
      <p:sp>
        <p:nvSpPr>
          <p:cNvPr id="43" name="Rounded Rectangle 42"/>
          <p:cNvSpPr/>
          <p:nvPr/>
        </p:nvSpPr>
        <p:spPr>
          <a:xfrm>
            <a:off x="10021824" y="5230368"/>
            <a:ext cx="1755648" cy="12161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94976" y="5285232"/>
            <a:ext cx="1609344" cy="1106424"/>
          </a:xfrm>
          <a:prstGeom prst="rect">
            <a:avLst/>
          </a:prstGeom>
          <a:noFill/>
        </p:spPr>
        <p:txBody>
          <a:bodyPr wrap="square" lIns="0" tIns="0" rIns="0" bIns="0">
            <a:spAutoFit/>
          </a:bodyPr>
          <a:lstStyle/>
          <a:p>
            <a:pPr>
              <a:spcAft>
                <a:spcPts val="100"/>
              </a:spcAft>
              <a:defRPr sz="900" b="1">
                <a:solidFill>
                  <a:srgbClr val="111827"/>
                </a:solidFill>
              </a:defRPr>
            </a:pPr>
            <a:r>
              <a:t>4. Trade Merchandising</a:t>
            </a:r>
          </a:p>
          <a:p>
            <a:pPr>
              <a:defRPr sz="800">
                <a:solidFill>
                  <a:srgbClr val="64748B"/>
                </a:solidFill>
              </a:defRPr>
            </a:pPr>
            <a:r>
              <a:t>Implement golden store branding program for top 300 revenue generating outlets.</a:t>
            </a:r>
          </a:p>
        </p:txBody>
      </p:sp>
      <p:sp>
        <p:nvSpPr>
          <p:cNvPr id="45" name="TextBox 44"/>
          <p:cNvSpPr txBox="1"/>
          <p:nvPr/>
        </p:nvSpPr>
        <p:spPr>
          <a:xfrm>
            <a:off x="411480" y="6565392"/>
            <a:ext cx="11365992" cy="201168"/>
          </a:xfrm>
          <a:prstGeom prst="rect">
            <a:avLst/>
          </a:prstGeom>
          <a:noFill/>
        </p:spPr>
        <p:txBody>
          <a:bodyPr wrap="none" lIns="0" tIns="0" rIns="0" bIns="0">
            <a:spAutoFit/>
          </a:bodyPr>
          <a:lstStyle/>
          <a:p>
            <a:pPr>
              <a:defRPr sz="850">
                <a:solidFill>
                  <a:srgbClr val="94A3B8"/>
                </a:solidFill>
              </a:defRPr>
            </a:pPr>
            <a:r>
              <a:t>* HCMC RTM plan delivers ~6.8B in incremental GT revenue via 674 in-filled Golden Outlets while funding supervision in Mekong.   •   Confidential • CJ Foods Vietnam • Slide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